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9144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91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2" y="128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164592"/>
            <a:ext cx="1197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8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SOLUTION ARCHITECTURE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75520" y="731520"/>
            <a:ext cx="3474720" cy="3474720"/>
          </a:xfrm>
          <a:prstGeom prst="ellipse">
            <a:avLst/>
          </a:prstGeom>
          <a:solidFill>
            <a:srgbClr val="E8DDD0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0" y="3474720"/>
            <a:ext cx="2560320" cy="2560320"/>
          </a:xfrm>
          <a:prstGeom prst="ellipse">
            <a:avLst/>
          </a:prstGeom>
          <a:solidFill>
            <a:srgbClr val="EDE8E0"/>
          </a:solidFill>
          <a:ln w="12700">
            <a:solidFill>
              <a:srgbClr val="E0D8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058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</a:t>
            </a:r>
            <a:endParaRPr lang="en-US" sz="11000" dirty="0"/>
          </a:p>
        </p:txBody>
      </p:sp>
      <p:sp>
        <p:nvSpPr>
          <p:cNvPr id="10" name="Text 8"/>
          <p:cNvSpPr/>
          <p:nvPr/>
        </p:nvSpPr>
        <p:spPr>
          <a:xfrm>
            <a:off x="320040" y="256032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E85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lens</a:t>
            </a:r>
            <a:endParaRPr lang="en-US" sz="11000" dirty="0"/>
          </a:p>
        </p:txBody>
      </p:sp>
      <p:sp>
        <p:nvSpPr>
          <p:cNvPr id="11" name="Shape 9"/>
          <p:cNvSpPr/>
          <p:nvPr/>
        </p:nvSpPr>
        <p:spPr>
          <a:xfrm>
            <a:off x="320040" y="4160520"/>
            <a:ext cx="1645920" cy="54864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37083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2D5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Document Intelligence for the Enterprise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0040" y="4983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costly, locked-in OCR to accurate, sovereign Document AI — built entirely on Mistral.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88952" cy="18288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6537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March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 Lombana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A8C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incumbent API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969264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costs $0.75/page,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1408176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delivers 85% accuracy,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84708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locks you in.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24231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runs document processing on a competing hyperscaler.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their workflow costs them today.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0" y="502920"/>
            <a:ext cx="1874520" cy="4206240"/>
          </a:xfrm>
          <a:prstGeom prst="roundRect">
            <a:avLst>
              <a:gd name="adj" fmla="val 3415"/>
            </a:avLst>
          </a:prstGeom>
          <a:solidFill>
            <a:srgbClr val="FDFAF5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5400000">
              <a:srgbClr val="C0B8B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5040" y="502920"/>
            <a:ext cx="187452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8229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$0.75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035040" y="175564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2139696"/>
            <a:ext cx="1325880" cy="9144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240280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vendor cost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65008" y="502920"/>
            <a:ext cx="1874520" cy="4206240"/>
          </a:xfrm>
          <a:prstGeom prst="roundRect">
            <a:avLst>
              <a:gd name="adj" fmla="val 3415"/>
            </a:avLst>
          </a:prstGeom>
          <a:solidFill>
            <a:srgbClr val="FDFAF5"/>
          </a:solidFill>
          <a:ln w="12700">
            <a:solidFill>
              <a:srgbClr val="B06A00"/>
            </a:solidFill>
            <a:prstDash val="solid"/>
          </a:ln>
          <a:effectLst>
            <a:outerShdw sx="100000" sy="100000" kx="0" ky="0" algn="bl" rotWithShape="0" blurRad="76200" dist="25400" dir="5400000">
              <a:srgbClr val="C0B8B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65008" y="502920"/>
            <a:ext cx="1874520" cy="73152"/>
          </a:xfrm>
          <a:prstGeom prst="rect">
            <a:avLst/>
          </a:prstGeom>
          <a:solidFill>
            <a:srgbClr val="B06A00"/>
          </a:solidFill>
          <a:ln w="12700">
            <a:solidFill>
              <a:srgbClr val="B06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65008" y="8229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0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8065008" y="175564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39328" y="2139696"/>
            <a:ext cx="1325880" cy="9144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56448" y="2240280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by customer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094976" y="502920"/>
            <a:ext cx="1874520" cy="4206240"/>
          </a:xfrm>
          <a:prstGeom prst="roundRect">
            <a:avLst>
              <a:gd name="adj" fmla="val 3415"/>
            </a:avLst>
          </a:prstGeom>
          <a:solidFill>
            <a:srgbClr val="FDFAF5"/>
          </a:solidFill>
          <a:ln w="12700">
            <a:solidFill>
              <a:srgbClr val="7A8C78"/>
            </a:solidFill>
            <a:prstDash val="solid"/>
          </a:ln>
          <a:effectLst>
            <a:outerShdw sx="100000" sy="100000" kx="0" ky="0" algn="bl" rotWithShape="0" blurRad="76200" dist="25400" dir="5400000">
              <a:srgbClr val="C0B8B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094976" y="502920"/>
            <a:ext cx="1874520" cy="73152"/>
          </a:xfrm>
          <a:prstGeom prst="rect">
            <a:avLst/>
          </a:prstGeom>
          <a:solidFill>
            <a:srgbClr val="7A8C78"/>
          </a:solidFill>
          <a:ln w="12700">
            <a:solidFill>
              <a:srgbClr val="7A8C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94976" y="8229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10094976" y="175564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369296" y="2139696"/>
            <a:ext cx="1325880" cy="9144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86416" y="2240280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hyperscaler API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6583680"/>
            <a:ext cx="12188952" cy="18288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66294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mistral-lens  ×  Partner Solution Architecture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9144000" y="6629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5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/ PLATFORM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models. One pipeline. 93.3% topic accuracy.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88920" cy="4937760"/>
          </a:xfrm>
          <a:prstGeom prst="roundRect">
            <a:avLst>
              <a:gd name="adj" fmla="val 2295"/>
            </a:avLst>
          </a:prstGeom>
          <a:solidFill>
            <a:srgbClr val="FDFAF5"/>
          </a:solidFill>
          <a:ln w="12700">
            <a:solidFill>
              <a:srgbClr val="1A3A1A"/>
            </a:solidFill>
            <a:prstDash val="solid"/>
          </a:ln>
          <a:effectLst>
            <a:outerShdw sx="100000" sy="100000" kx="0" ky="0" algn="bl" rotWithShape="0" blurRad="76200" dist="25400" dir="5400000">
              <a:srgbClr val="C0B8B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88920" cy="91440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70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404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84048" y="2011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 Document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260604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PDF — scanned or digital. Uploaded by analyst or ingested via API. No preprocessing required.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4480560"/>
            <a:ext cx="2788920" cy="18288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553712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repliqa_3 holdout · 15 docs · multi-topic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18688" y="1005840"/>
            <a:ext cx="2788920" cy="4937760"/>
          </a:xfrm>
          <a:prstGeom prst="roundRect">
            <a:avLst>
              <a:gd name="adj" fmla="val 2295"/>
            </a:avLst>
          </a:prstGeom>
          <a:solidFill>
            <a:srgbClr val="FDFAF5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76200" dist="25400" dir="5400000">
              <a:srgbClr val="C0B8B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1005840"/>
            <a:ext cx="278892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1170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OCR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2841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28416" y="2011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Extraction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28416" y="260604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mistral-ocr-latest extracts full text with layout awareness. No template needed.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18688" y="4480560"/>
            <a:ext cx="2788920" cy="18288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4553712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0.017  ·  ROUGE-L 0.999  ·  Target &lt; 0.15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63056" y="1005840"/>
            <a:ext cx="2788920" cy="4937760"/>
          </a:xfrm>
          <a:prstGeom prst="roundRect">
            <a:avLst>
              <a:gd name="adj" fmla="val 2295"/>
            </a:avLst>
          </a:prstGeom>
          <a:solidFill>
            <a:srgbClr val="FDFAF5"/>
          </a:solidFill>
          <a:ln w="12700">
            <a:solidFill>
              <a:srgbClr val="1A5FAD"/>
            </a:solidFill>
            <a:prstDash val="solid"/>
          </a:ln>
          <a:effectLst>
            <a:outerShdw sx="100000" sy="100000" kx="0" ky="0" algn="bl" rotWithShape="0" blurRad="76200" dist="25400" dir="5400000">
              <a:srgbClr val="C0B8B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3056" y="1005840"/>
            <a:ext cx="2788920" cy="91440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1170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A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CLASSIFY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7278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272784" y="2011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 Classification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72784" y="260604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mistral-large-latest with few-shot prompt classifies into 17 taxonomy categories.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63056" y="4480560"/>
            <a:ext cx="2788920" cy="18288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54496" y="4553712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93.3% (14/15)  ·  Score 4.9/5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107424" y="1005840"/>
            <a:ext cx="2788920" cy="4937760"/>
          </a:xfrm>
          <a:prstGeom prst="roundRect">
            <a:avLst>
              <a:gd name="adj" fmla="val 2295"/>
            </a:avLst>
          </a:prstGeom>
          <a:solidFill>
            <a:srgbClr val="FDFAF5"/>
          </a:solidFill>
          <a:ln w="12700">
            <a:solidFill>
              <a:srgbClr val="6B35A8"/>
            </a:solidFill>
            <a:prstDash val="solid"/>
          </a:ln>
          <a:effectLst>
            <a:outerShdw sx="100000" sy="100000" kx="0" ky="0" algn="bl" rotWithShape="0" blurRad="76200" dist="25400" dir="5400000">
              <a:srgbClr val="C0B8B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07424" y="1005840"/>
            <a:ext cx="2788920" cy="91440"/>
          </a:xfrm>
          <a:prstGeom prst="rect">
            <a:avLst/>
          </a:prstGeom>
          <a:solidFill>
            <a:srgbClr val="6B35A8"/>
          </a:solidFill>
          <a:ln w="12700">
            <a:solidFill>
              <a:srgbClr val="6B35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17152" y="1170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3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Q&amp;A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21715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217152" y="2011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Q&amp;A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217152" y="260604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mistral-large-latest answers questions grounded strictly in extracted text — no hallucination.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107424" y="4480560"/>
            <a:ext cx="2788920" cy="18288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98864" y="4553712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3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LLM-judge 4.9/5  ·  Latency 5.3s/doc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081528" y="3246120"/>
            <a:ext cx="274320" cy="256032"/>
          </a:xfrm>
          <a:prstGeom prst="rightArrow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25896" y="3246120"/>
            <a:ext cx="274320" cy="256032"/>
          </a:xfrm>
          <a:prstGeom prst="rightArrow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70264" y="3246120"/>
            <a:ext cx="274320" cy="256032"/>
          </a:xfrm>
          <a:prstGeom prst="rightArrow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583680"/>
            <a:ext cx="12188952" cy="18288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66294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mistral-lens  ×  Partner Solution Architecture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9144000" y="6629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 / BUSINESS CASE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5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Evaluated on repliqa_3 holdout (15 docs, never seen during development).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2377440" cy="347472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960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33472" y="960120"/>
            <a:ext cx="1280160" cy="347472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06624" y="9601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13632" y="960120"/>
            <a:ext cx="1554480" cy="347472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86784" y="960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68112" y="960120"/>
            <a:ext cx="457200" cy="347472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41264" y="9601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1307592"/>
            <a:ext cx="2377440" cy="475488"/>
          </a:xfrm>
          <a:prstGeom prst="rect">
            <a:avLst/>
          </a:prstGeom>
          <a:solidFill>
            <a:srgbClr val="F5F0E8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33472" y="1307592"/>
            <a:ext cx="1280160" cy="475488"/>
          </a:xfrm>
          <a:prstGeom prst="rect">
            <a:avLst/>
          </a:prstGeom>
          <a:solidFill>
            <a:srgbClr val="F5F0E8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13632" y="1307592"/>
            <a:ext cx="1554480" cy="475488"/>
          </a:xfrm>
          <a:prstGeom prst="rect">
            <a:avLst/>
          </a:prstGeom>
          <a:solidFill>
            <a:srgbClr val="F5F0E8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68112" y="1307592"/>
            <a:ext cx="457200" cy="475488"/>
          </a:xfrm>
          <a:prstGeom prst="rect">
            <a:avLst/>
          </a:prstGeom>
          <a:solidFill>
            <a:srgbClr val="F5F0E8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130759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(OCR quality)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06624" y="130759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986784" y="13075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41264" y="130759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1783080"/>
            <a:ext cx="2377440" cy="475488"/>
          </a:xfrm>
          <a:prstGeom prst="rect">
            <a:avLst/>
          </a:prstGeom>
          <a:solidFill>
            <a:srgbClr val="FDFAF5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33472" y="1783080"/>
            <a:ext cx="1280160" cy="475488"/>
          </a:xfrm>
          <a:prstGeom prst="rect">
            <a:avLst/>
          </a:prstGeom>
          <a:solidFill>
            <a:srgbClr val="FDFAF5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13632" y="1783080"/>
            <a:ext cx="1554480" cy="475488"/>
          </a:xfrm>
          <a:prstGeom prst="rect">
            <a:avLst/>
          </a:prstGeom>
          <a:solidFill>
            <a:srgbClr val="FDFAF5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68112" y="1783080"/>
            <a:ext cx="457200" cy="475488"/>
          </a:xfrm>
          <a:prstGeom prst="rect">
            <a:avLst/>
          </a:prstGeom>
          <a:solidFill>
            <a:srgbClr val="FDFAF5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" y="17830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 (text fidelity)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06624" y="17830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0.80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986784" y="17830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41264" y="17830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2258568"/>
            <a:ext cx="2377440" cy="475488"/>
          </a:xfrm>
          <a:prstGeom prst="rect">
            <a:avLst/>
          </a:prstGeom>
          <a:solidFill>
            <a:srgbClr val="F5F0E8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33472" y="2258568"/>
            <a:ext cx="1280160" cy="475488"/>
          </a:xfrm>
          <a:prstGeom prst="rect">
            <a:avLst/>
          </a:prstGeom>
          <a:solidFill>
            <a:srgbClr val="F5F0E8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13632" y="2258568"/>
            <a:ext cx="1554480" cy="475488"/>
          </a:xfrm>
          <a:prstGeom prst="rect">
            <a:avLst/>
          </a:prstGeom>
          <a:solidFill>
            <a:srgbClr val="F5F0E8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68112" y="2258568"/>
            <a:ext cx="457200" cy="475488"/>
          </a:xfrm>
          <a:prstGeom prst="rect">
            <a:avLst/>
          </a:prstGeom>
          <a:solidFill>
            <a:srgbClr val="F5F0E8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22585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Accuracy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06624" y="225856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80%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986784" y="22585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93.3%  (14/15)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41264" y="225856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6032" y="2734056"/>
            <a:ext cx="2377440" cy="475488"/>
          </a:xfrm>
          <a:prstGeom prst="rect">
            <a:avLst/>
          </a:prstGeom>
          <a:solidFill>
            <a:srgbClr val="FDFAF5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33472" y="2734056"/>
            <a:ext cx="1280160" cy="475488"/>
          </a:xfrm>
          <a:prstGeom prst="rect">
            <a:avLst/>
          </a:prstGeom>
          <a:solidFill>
            <a:srgbClr val="FDFAF5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13632" y="2734056"/>
            <a:ext cx="1554480" cy="475488"/>
          </a:xfrm>
          <a:prstGeom prst="rect">
            <a:avLst/>
          </a:prstGeom>
          <a:solidFill>
            <a:srgbClr val="FDFAF5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68112" y="2734056"/>
            <a:ext cx="457200" cy="475488"/>
          </a:xfrm>
          <a:prstGeom prst="rect">
            <a:avLst/>
          </a:prstGeom>
          <a:solidFill>
            <a:srgbClr val="FDFAF5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" y="273405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Score (LLM-judge)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706624" y="273405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4.0/5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986784" y="273405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 / 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541264" y="273405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6032" y="3209544"/>
            <a:ext cx="2377440" cy="475488"/>
          </a:xfrm>
          <a:prstGeom prst="rect">
            <a:avLst/>
          </a:prstGeom>
          <a:solidFill>
            <a:srgbClr val="F5F0E8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33472" y="3209544"/>
            <a:ext cx="1280160" cy="475488"/>
          </a:xfrm>
          <a:prstGeom prst="rect">
            <a:avLst/>
          </a:prstGeom>
          <a:solidFill>
            <a:srgbClr val="F5F0E8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913632" y="3209544"/>
            <a:ext cx="1554480" cy="475488"/>
          </a:xfrm>
          <a:prstGeom prst="rect">
            <a:avLst/>
          </a:prstGeom>
          <a:solidFill>
            <a:srgbClr val="F5F0E8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68112" y="3209544"/>
            <a:ext cx="457200" cy="475488"/>
          </a:xfrm>
          <a:prstGeom prst="rect">
            <a:avLst/>
          </a:prstGeom>
          <a:solidFill>
            <a:srgbClr val="F5F0E8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" y="32095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Score (LLM-judge)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706624" y="320954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4.0/5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986784" y="320954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 / 5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541264" y="320954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56032" y="3685032"/>
            <a:ext cx="2377440" cy="475488"/>
          </a:xfrm>
          <a:prstGeom prst="rect">
            <a:avLst/>
          </a:prstGeom>
          <a:solidFill>
            <a:srgbClr val="FDFAF5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33472" y="3685032"/>
            <a:ext cx="1280160" cy="475488"/>
          </a:xfrm>
          <a:prstGeom prst="rect">
            <a:avLst/>
          </a:prstGeom>
          <a:solidFill>
            <a:srgbClr val="FDFAF5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913632" y="3685032"/>
            <a:ext cx="1554480" cy="475488"/>
          </a:xfrm>
          <a:prstGeom prst="rect">
            <a:avLst/>
          </a:prstGeom>
          <a:solidFill>
            <a:srgbClr val="FDFAF5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68112" y="3685032"/>
            <a:ext cx="457200" cy="475488"/>
          </a:xfrm>
          <a:prstGeom prst="rect">
            <a:avLst/>
          </a:prstGeom>
          <a:solidFill>
            <a:srgbClr val="FDFAF5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9184" y="368503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706624" y="368503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986784" y="368503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5.3s / doc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541264" y="368503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56032" y="4160520"/>
            <a:ext cx="2377440" cy="475488"/>
          </a:xfrm>
          <a:prstGeom prst="rect">
            <a:avLst/>
          </a:prstGeom>
          <a:solidFill>
            <a:srgbClr val="F5F0E8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633472" y="4160520"/>
            <a:ext cx="1280160" cy="475488"/>
          </a:xfrm>
          <a:prstGeom prst="rect">
            <a:avLst/>
          </a:prstGeom>
          <a:solidFill>
            <a:srgbClr val="F5F0E8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913632" y="4160520"/>
            <a:ext cx="1554480" cy="475488"/>
          </a:xfrm>
          <a:prstGeom prst="rect">
            <a:avLst/>
          </a:prstGeom>
          <a:solidFill>
            <a:srgbClr val="F5F0E8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468112" y="4160520"/>
            <a:ext cx="457200" cy="475488"/>
          </a:xfrm>
          <a:prstGeom prst="rect">
            <a:avLst/>
          </a:prstGeom>
          <a:solidFill>
            <a:srgbClr val="F5F0E8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9184" y="41605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706624" y="41605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986784" y="416052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$0.0049 / doc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541264" y="4160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400800" y="914400"/>
            <a:ext cx="5440680" cy="5596128"/>
          </a:xfrm>
          <a:prstGeom prst="roundRect">
            <a:avLst>
              <a:gd name="adj" fmla="val 1176"/>
            </a:avLst>
          </a:prstGeom>
          <a:solidFill>
            <a:srgbClr val="FDFAF5"/>
          </a:solidFill>
          <a:ln w="12700">
            <a:solidFill>
              <a:srgbClr val="E8541A"/>
            </a:solidFill>
            <a:prstDash val="solid"/>
          </a:ln>
          <a:effectLst>
            <a:outerShdw sx="100000" sy="100000" kx="0" ky="0" algn="bl" rotWithShape="0" blurRad="76200" dist="25400" dir="5400000">
              <a:srgbClr val="C0B8B0">
                <a:alpha val="18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400800" y="914400"/>
            <a:ext cx="5440680" cy="82296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65392" y="10789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565392" y="138988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pages / month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510528" y="1783080"/>
            <a:ext cx="5212080" cy="530352"/>
          </a:xfrm>
          <a:prstGeom prst="rect">
            <a:avLst/>
          </a:prstGeom>
          <a:solidFill>
            <a:srgbClr val="F5F0E8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01968" y="178308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cost/page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9784080" y="178308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$0.75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6510528" y="2350008"/>
            <a:ext cx="5212080" cy="530352"/>
          </a:xfrm>
          <a:prstGeom prst="rect">
            <a:avLst/>
          </a:prstGeom>
          <a:solidFill>
            <a:srgbClr val="FDFAF5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601968" y="235000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cost/doc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9784080" y="235000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$0.0049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6510528" y="2916936"/>
            <a:ext cx="5212080" cy="530352"/>
          </a:xfrm>
          <a:prstGeom prst="rect">
            <a:avLst/>
          </a:prstGeom>
          <a:solidFill>
            <a:srgbClr val="F5F0E8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601968" y="291693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monthly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9784080" y="291693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$75,000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6510528" y="3483864"/>
            <a:ext cx="5212080" cy="530352"/>
          </a:xfrm>
          <a:prstGeom prst="rect">
            <a:avLst/>
          </a:prstGeom>
          <a:solidFill>
            <a:srgbClr val="FDFAF5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601968" y="348386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monthly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9784080" y="348386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$490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6510528" y="4050792"/>
            <a:ext cx="5212080" cy="530352"/>
          </a:xfrm>
          <a:prstGeom prst="rect">
            <a:avLst/>
          </a:prstGeom>
          <a:solidFill>
            <a:srgbClr val="F5F0E8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601968" y="405079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savings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9784080" y="405079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$74,510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6510528" y="4617720"/>
            <a:ext cx="5212080" cy="530352"/>
          </a:xfrm>
          <a:prstGeom prst="rect">
            <a:avLst/>
          </a:prstGeom>
          <a:solidFill>
            <a:srgbClr val="FDFAF5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601968" y="461772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savings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9784080" y="46177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$894,120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6510528" y="5212080"/>
            <a:ext cx="5212080" cy="896112"/>
          </a:xfrm>
          <a:prstGeom prst="roundRect">
            <a:avLst>
              <a:gd name="adj" fmla="val 7143"/>
            </a:avLst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  <a:effectLst>
            <a:outerShdw sx="100000" sy="100000" kx="0" ky="0" algn="bl" rotWithShape="0" blurRad="76200" dist="25400" dir="5400000">
              <a:srgbClr val="C0B8B0">
                <a:alpha val="18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6601968" y="523036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500× cost reduction  ·  $894K annual savings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6601968" y="565099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incumbent hyperscaler at 100K pages/month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0" y="6583680"/>
            <a:ext cx="12188952" cy="18288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20040" y="66294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mistral-lens  ×  Partner Solution Architecture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9144000" y="6629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5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Q&amp;A — REFERENCE SHEET  (not for video)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answers for the live panel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5623560" cy="2359152"/>
          </a:xfrm>
          <a:prstGeom prst="roundRect">
            <a:avLst>
              <a:gd name="adj" fmla="val 2713"/>
            </a:avLst>
          </a:prstGeom>
          <a:solidFill>
            <a:srgbClr val="FDFAF5"/>
          </a:solidFill>
          <a:ln w="12700">
            <a:solidFill>
              <a:srgbClr val="E8541A"/>
            </a:solidFill>
            <a:prstDash val="solid"/>
          </a:ln>
          <a:effectLst>
            <a:outerShdw sx="100000" sy="100000" kx="0" ky="0" algn="bl" rotWithShape="0" blurRad="76200" dist="25400" dir="5400000">
              <a:srgbClr val="C0B8B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87552"/>
            <a:ext cx="5623560" cy="73152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13385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vs. incumbent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55448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Incumbent: $0.75/page  →  $75K/month at 100K pages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975104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Mistral OCR: $0.0049/doc  →  $490/month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" y="239572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Saving: $74,510/month  ·  $894K/year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" y="2816352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500× cost reduction — verifiable from Mistral pricing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987552"/>
            <a:ext cx="5623560" cy="2359152"/>
          </a:xfrm>
          <a:prstGeom prst="roundRect">
            <a:avLst>
              <a:gd name="adj" fmla="val 2713"/>
            </a:avLst>
          </a:prstGeom>
          <a:solidFill>
            <a:srgbClr val="FDFAF5"/>
          </a:solidFill>
          <a:ln w="12700">
            <a:solidFill>
              <a:srgbClr val="1A6B35"/>
            </a:solidFill>
            <a:prstDash val="solid"/>
          </a:ln>
          <a:effectLst>
            <a:outerShdw sx="100000" sy="100000" kx="0" ky="0" algn="bl" rotWithShape="0" blurRad="76200" dist="25400" dir="5400000">
              <a:srgbClr val="C0B8B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987552"/>
            <a:ext cx="5623560" cy="73152"/>
          </a:xfrm>
          <a:prstGeom prst="rect">
            <a:avLst/>
          </a:prstGeom>
          <a:solidFill>
            <a:srgbClr val="1A6B3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13385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baseline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155448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WER 0.017 (target &lt; 0.15) — 9× better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1975104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ROUGE-L 0.999 (target &gt; 0.80) — near-perfect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239572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Topic accuracy 93.3% (14/15 docs)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2816352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Q&amp;A score 4.9/5 LLM-judge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3566160"/>
            <a:ext cx="5623560" cy="2359152"/>
          </a:xfrm>
          <a:prstGeom prst="roundRect">
            <a:avLst>
              <a:gd name="adj" fmla="val 2713"/>
            </a:avLst>
          </a:prstGeom>
          <a:solidFill>
            <a:srgbClr val="FDFAF5"/>
          </a:solidFill>
          <a:ln w="12700">
            <a:solidFill>
              <a:srgbClr val="1A5FAD"/>
            </a:solidFill>
            <a:prstDash val="solid"/>
          </a:ln>
          <a:effectLst>
            <a:outerShdw sx="100000" sy="100000" kx="0" ky="0" algn="bl" rotWithShape="0" blurRad="76200" dist="25400" dir="5400000">
              <a:srgbClr val="C0B8B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3566160"/>
            <a:ext cx="5623560" cy="73152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371246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F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about scale?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3192" y="413308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Stateless pipeline — scales horizontally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" y="4553712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Each doc: OCR + classify + Q&amp;A in 5.3s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3192" y="4974336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Mistral API handles bursts natively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3192" y="539496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infra to manage — fully serverless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3566160"/>
            <a:ext cx="5623560" cy="2359152"/>
          </a:xfrm>
          <a:prstGeom prst="roundRect">
            <a:avLst>
              <a:gd name="adj" fmla="val 2713"/>
            </a:avLst>
          </a:prstGeom>
          <a:solidFill>
            <a:srgbClr val="FDFAF5"/>
          </a:solidFill>
          <a:ln w="12700">
            <a:solidFill>
              <a:srgbClr val="6B35A8"/>
            </a:solidFill>
            <a:prstDash val="solid"/>
          </a:ln>
          <a:effectLst>
            <a:outerShdw sx="100000" sy="100000" kx="0" ky="0" algn="bl" rotWithShape="0" blurRad="76200" dist="25400" dir="5400000">
              <a:srgbClr val="C0B8B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3566160"/>
            <a:ext cx="5623560" cy="73152"/>
          </a:xfrm>
          <a:prstGeom prst="rect">
            <a:avLst/>
          </a:prstGeom>
          <a:solidFill>
            <a:srgbClr val="6B35A8"/>
          </a:solidFill>
          <a:ln w="12700">
            <a:solidFill>
              <a:srgbClr val="6B35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71246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5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Mistral, not OpenAI?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413308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European sovereignty — GDPR-native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4553712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 Plateforme: on-premise option available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4974336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Mistral OCR built specifically for documents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55080" y="539496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Price-performance: no other stack matches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583680"/>
            <a:ext cx="12188952" cy="18288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66294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mistral-lens  ×  Partner Solution Architecture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144000" y="6629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2026-03-13T15:43:04Z</dcterms:created>
  <dcterms:modified xsi:type="dcterms:W3CDTF">2026-03-13T15:43:04Z</dcterms:modified>
</cp:coreProperties>
</file>