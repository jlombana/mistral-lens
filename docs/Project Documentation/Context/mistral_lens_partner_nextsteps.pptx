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PARTNER OPPORTUNITY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2918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demo to enterprise platform.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76809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mistral-lens is the foundation. These are the layers a partner builds to unlock full enterprise value.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060704"/>
            <a:ext cx="4160520" cy="2103120"/>
          </a:xfrm>
          <a:prstGeom prst="rect">
            <a:avLst/>
          </a:prstGeom>
          <a:solidFill>
            <a:srgbClr val="FDFAF5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060704"/>
            <a:ext cx="4160520" cy="5029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152144"/>
            <a:ext cx="402336" cy="402336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52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41832" y="117957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pPr algn="l" indent="0" marL="0">
              <a:buNone/>
            </a:pPr>
            <a:r>
              <a:rPr lang="en-US" sz="10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Weeks 1–4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41832" y="1353312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Base &amp; AI Search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75488" y="1655064"/>
            <a:ext cx="3904488" cy="7315"/>
          </a:xfrm>
          <a:prstGeom prst="rect">
            <a:avLst/>
          </a:prstGeom>
          <a:solidFill>
            <a:srgbClr val="E8622A">
              <a:alpha val="30000"/>
            </a:srgbClr>
          </a:solidFill>
          <a:ln w="12700">
            <a:solidFill>
              <a:srgbClr val="E8622A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71907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" y="1719072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index full document corpus — all categories, all languages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75488" y="204368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" y="2043684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(Weaviate / Pinecone) + relational DB for dynamic taxonomies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75488" y="236829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" y="2368296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across documents and topic clusters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475488" y="269290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" y="2692908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Search API — instant retrieval at scale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4672584" y="1060704"/>
            <a:ext cx="4160520" cy="2103120"/>
          </a:xfrm>
          <a:prstGeom prst="rect">
            <a:avLst/>
          </a:prstGeom>
          <a:solidFill>
            <a:srgbClr val="FDFAF5"/>
          </a:solidFill>
          <a:ln w="12700">
            <a:solidFill>
              <a:srgbClr val="2B6BA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72584" y="1060704"/>
            <a:ext cx="4160520" cy="50292"/>
          </a:xfrm>
          <a:prstGeom prst="rect">
            <a:avLst/>
          </a:prstGeom>
          <a:solidFill>
            <a:srgbClr val="2B6BAD"/>
          </a:solidFill>
          <a:ln w="12700">
            <a:solidFill>
              <a:srgbClr val="2B6BA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1152144"/>
            <a:ext cx="402336" cy="402336"/>
          </a:xfrm>
          <a:prstGeom prst="rect">
            <a:avLst/>
          </a:prstGeom>
          <a:solidFill>
            <a:srgbClr val="2B6BAD"/>
          </a:solidFill>
          <a:ln w="12700">
            <a:solidFill>
              <a:srgbClr val="2B6B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152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66944" y="117957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6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pPr algn="l" indent="0" marL="0">
              <a:buNone/>
            </a:pPr>
            <a:r>
              <a:rPr lang="en-US" sz="1000" dirty="0">
                <a:solidFill>
                  <a:srgbClr val="2B6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Weeks 4–8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66944" y="1353312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&amp; Cross-Document Q&amp;A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800600" y="1655064"/>
            <a:ext cx="3904488" cy="7315"/>
          </a:xfrm>
          <a:prstGeom prst="rect">
            <a:avLst/>
          </a:prstGeom>
          <a:solidFill>
            <a:srgbClr val="2B6BAD">
              <a:alpha val="30000"/>
            </a:srgbClr>
          </a:solidFill>
          <a:ln w="12700">
            <a:solidFill>
              <a:srgbClr val="2B6BAD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71907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6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1719072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RAG on the index — answers grounded in the full corpus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800600" y="204368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6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3480" y="2043684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Multi-document Q&amp;A: questions that span topics and categories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800600" y="236829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6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83480" y="2368296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taxonomy indexing — new doc types auto-classified on ingest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800600" y="269290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6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83480" y="2692908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search: dense embeddings + BM25 keyword fallback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347472" y="3255264"/>
            <a:ext cx="4160520" cy="2103120"/>
          </a:xfrm>
          <a:prstGeom prst="rect">
            <a:avLst/>
          </a:prstGeom>
          <a:solidFill>
            <a:srgbClr val="FDFAF5"/>
          </a:solidFill>
          <a:ln w="12700">
            <a:solidFill>
              <a:srgbClr val="2B5FA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7472" y="3255264"/>
            <a:ext cx="4160520" cy="50292"/>
          </a:xfrm>
          <a:prstGeom prst="rect">
            <a:avLst/>
          </a:prstGeom>
          <a:solidFill>
            <a:srgbClr val="2B5FAD"/>
          </a:solidFill>
          <a:ln w="12700">
            <a:solidFill>
              <a:srgbClr val="2B5FA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" y="3346704"/>
            <a:ext cx="402336" cy="402336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41832" y="337413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pPr algn="l" indent="0" marL="0">
              <a:buNone/>
            </a:pPr>
            <a:r>
              <a:rPr lang="en-US" sz="1000" dirty="0">
                <a:solidFill>
                  <a:srgbClr val="2B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Month 2–3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41832" y="3547872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Assistants &amp; Agentic Workflows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475488" y="3849624"/>
            <a:ext cx="3904488" cy="7315"/>
          </a:xfrm>
          <a:prstGeom prst="rect">
            <a:avLst/>
          </a:prstGeom>
          <a:solidFill>
            <a:srgbClr val="2B5FAD">
              <a:alpha val="30000"/>
            </a:srgbClr>
          </a:solidFill>
          <a:ln w="12700">
            <a:solidFill>
              <a:srgbClr val="2B5FAD">
                <a:alpha val="3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" y="391363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58368" y="3913632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assistant — chat over the full document corpus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475488" y="423824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58368" y="4238244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workflows: classify → retrieve → answer → escalate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475488" y="456285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58368" y="4562856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views: analyst, compliance, ops — each sees what matters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4672584" y="3255264"/>
            <a:ext cx="4160520" cy="2103120"/>
          </a:xfrm>
          <a:prstGeom prst="rect">
            <a:avLst/>
          </a:prstGeom>
          <a:solidFill>
            <a:srgbClr val="FDFAF5"/>
          </a:solidFill>
          <a:ln w="12700">
            <a:solidFill>
              <a:srgbClr val="1A4A2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72584" y="3255264"/>
            <a:ext cx="4160520" cy="50292"/>
          </a:xfrm>
          <a:prstGeom prst="rect">
            <a:avLst/>
          </a:prstGeom>
          <a:solidFill>
            <a:srgbClr val="1A4A2A"/>
          </a:solidFill>
          <a:ln w="12700">
            <a:solidFill>
              <a:srgbClr val="1A4A2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00600" y="3346704"/>
            <a:ext cx="402336" cy="402336"/>
          </a:xfrm>
          <a:prstGeom prst="rect">
            <a:avLst/>
          </a:prstGeom>
          <a:solidFill>
            <a:srgbClr val="1A4A2A"/>
          </a:solidFill>
          <a:ln w="12700">
            <a:solidFill>
              <a:srgbClr val="1A4A2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266944" y="337413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pPr algn="l" indent="0" marL="0">
              <a:buNone/>
            </a:pPr>
            <a:r>
              <a:rPr lang="en-US" sz="1000" dirty="0">
                <a:solidFill>
                  <a:srgbClr val="1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From Month 3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266944" y="3547872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Scale, Optimise &amp; Monetise</a:t>
            </a:r>
            <a:endParaRPr lang="en-US" sz="1350" dirty="0"/>
          </a:p>
        </p:txBody>
      </p:sp>
      <p:sp>
        <p:nvSpPr>
          <p:cNvPr id="54" name="Shape 52"/>
          <p:cNvSpPr/>
          <p:nvPr/>
        </p:nvSpPr>
        <p:spPr>
          <a:xfrm>
            <a:off x="4800600" y="3849624"/>
            <a:ext cx="3904488" cy="7315"/>
          </a:xfrm>
          <a:prstGeom prst="rect">
            <a:avLst/>
          </a:prstGeom>
          <a:solidFill>
            <a:srgbClr val="1A4A2A">
              <a:alpha val="30000"/>
            </a:srgbClr>
          </a:solidFill>
          <a:ln w="12700">
            <a:solidFill>
              <a:srgbClr val="1A4A2A">
                <a:alpha val="3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00600" y="391363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983480" y="3913632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routing: mistral-small for simple tasks, mistral-large for complex</a:t>
            </a:r>
            <a:endParaRPr lang="en-US" sz="980" dirty="0"/>
          </a:p>
        </p:txBody>
      </p:sp>
      <p:sp>
        <p:nvSpPr>
          <p:cNvPr id="57" name="Text 55"/>
          <p:cNvSpPr/>
          <p:nvPr/>
        </p:nvSpPr>
        <p:spPr>
          <a:xfrm>
            <a:off x="4800600" y="423824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983480" y="4238244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customer domain — push accuracy beyond 99%</a:t>
            </a:r>
            <a:endParaRPr lang="en-US" sz="980" dirty="0"/>
          </a:p>
        </p:txBody>
      </p:sp>
      <p:sp>
        <p:nvSpPr>
          <p:cNvPr id="59" name="Text 57"/>
          <p:cNvSpPr/>
          <p:nvPr/>
        </p:nvSpPr>
        <p:spPr>
          <a:xfrm>
            <a:off x="4800600" y="456285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983480" y="4562856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ROI dashboard: cost savings vs incumbent, accuracy delta</a:t>
            </a:r>
            <a:endParaRPr lang="en-US" sz="980" dirty="0"/>
          </a:p>
        </p:txBody>
      </p:sp>
      <p:sp>
        <p:nvSpPr>
          <p:cNvPr id="61" name="Shape 59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E8E0D4"/>
          </a:solidFill>
          <a:ln w="12700">
            <a:solidFill>
              <a:srgbClr val="E8E0D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5760" y="49469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mistral-lens  ×  Partner Solution Architecture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572000" y="494690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Roadmap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Mistral Lens – Partner Next Steps</dc:title>
  <dc:subject>PptxGenJS Presentation</dc:subject>
  <dc:creator>PptxGenJS</dc:creator>
  <cp:lastModifiedBy>PptxGenJS</cp:lastModifiedBy>
  <cp:revision>1</cp:revision>
  <dcterms:created xsi:type="dcterms:W3CDTF">2026-03-14T19:46:17Z</dcterms:created>
  <dcterms:modified xsi:type="dcterms:W3CDTF">2026-03-14T19:46:17Z</dcterms:modified>
</cp:coreProperties>
</file>