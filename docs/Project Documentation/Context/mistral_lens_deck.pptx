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1463040"/>
            <a:ext cx="4754880" cy="4754880"/>
          </a:xfrm>
          <a:prstGeom prst="ellipse">
            <a:avLst/>
          </a:prstGeom>
          <a:solidFill>
            <a:srgbClr val="000000">
              <a:alpha val="0"/>
            </a:srgbClr>
          </a:solidFill>
          <a:ln w="12700">
            <a:solidFill>
              <a:srgbClr val="1A38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457200"/>
            <a:ext cx="3108960" cy="3108960"/>
          </a:xfrm>
          <a:prstGeom prst="ellipse">
            <a:avLst/>
          </a:prstGeom>
          <a:solidFill>
            <a:srgbClr val="13261A"/>
          </a:solidFill>
          <a:ln w="12700">
            <a:solidFill>
              <a:srgbClr val="1E38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91440"/>
            <a:ext cx="1645920" cy="1645920"/>
          </a:xfrm>
          <a:prstGeom prst="ellipse">
            <a:avLst/>
          </a:prstGeom>
          <a:solidFill>
            <a:srgbClr val="1A3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0" y="3474720"/>
            <a:ext cx="2560320" cy="2560320"/>
          </a:xfrm>
          <a:prstGeom prst="ellipse">
            <a:avLst/>
          </a:prstGeom>
          <a:solidFill>
            <a:srgbClr val="13261A"/>
          </a:solidFill>
          <a:ln w="12700">
            <a:solidFill>
              <a:srgbClr val="1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20040"/>
            <a:ext cx="347472" cy="3474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0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200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ai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3383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SOLUTION ARCHITECTURE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38912" y="105156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5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mistral</a:t>
            </a:r>
            <a:endParaRPr lang="en-US" sz="10000" dirty="0"/>
          </a:p>
        </p:txBody>
      </p:sp>
      <p:sp>
        <p:nvSpPr>
          <p:cNvPr id="11" name="Text 9"/>
          <p:cNvSpPr/>
          <p:nvPr/>
        </p:nvSpPr>
        <p:spPr>
          <a:xfrm>
            <a:off x="438912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lens</a:t>
            </a:r>
            <a:endParaRPr lang="en-US" sz="10000" dirty="0"/>
          </a:p>
        </p:txBody>
      </p:sp>
      <p:sp>
        <p:nvSpPr>
          <p:cNvPr id="12" name="Shape 10"/>
          <p:cNvSpPr/>
          <p:nvPr/>
        </p:nvSpPr>
        <p:spPr>
          <a:xfrm>
            <a:off x="457200" y="3401568"/>
            <a:ext cx="1645920" cy="502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3520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8D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Document Intelligence for the Enterprise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8912" y="400507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costly, locked-in OCR to accurate, sovereign Document AI — built entirely on Mistral.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47731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·  March 2026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47731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Lombana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20040" y="56692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D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incumbent API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costs $0.75/page,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148132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delivers 85% accuracy,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193852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55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locks you in.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0040" y="29260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runs document processing on a competing hyperscaler.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their workflow costs them today.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6592" y="658368"/>
            <a:ext cx="1316736" cy="3429000"/>
          </a:xfrm>
          <a:prstGeom prst="roundRect">
            <a:avLst>
              <a:gd name="adj" fmla="val 4167"/>
            </a:avLst>
          </a:prstGeom>
          <a:solidFill>
            <a:srgbClr val="13261A"/>
          </a:solidFill>
          <a:ln w="12700">
            <a:solidFill>
              <a:srgbClr val="E055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6592" y="658368"/>
            <a:ext cx="1316736" cy="73152"/>
          </a:xfrm>
          <a:prstGeom prst="rect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978408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736592" y="1892808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09744" y="2322576"/>
            <a:ext cx="1170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vendor cost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81344" y="658368"/>
            <a:ext cx="1316736" cy="3429000"/>
          </a:xfrm>
          <a:prstGeom prst="roundRect">
            <a:avLst>
              <a:gd name="adj" fmla="val 4167"/>
            </a:avLst>
          </a:prstGeom>
          <a:solidFill>
            <a:srgbClr val="13261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81344" y="658368"/>
            <a:ext cx="1316736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1344" y="978408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181344" y="1892808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54496" y="2322576"/>
            <a:ext cx="1170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by customer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626096" y="658368"/>
            <a:ext cx="1316736" cy="3429000"/>
          </a:xfrm>
          <a:prstGeom prst="roundRect">
            <a:avLst>
              <a:gd name="adj" fmla="val 4167"/>
            </a:avLst>
          </a:prstGeom>
          <a:solidFill>
            <a:srgbClr val="13261A"/>
          </a:solidFill>
          <a:ln w="12700">
            <a:solidFill>
              <a:srgbClr val="7A9E8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26096" y="658368"/>
            <a:ext cx="1316736" cy="73152"/>
          </a:xfrm>
          <a:prstGeom prst="rect">
            <a:avLst/>
          </a:prstGeom>
          <a:solidFill>
            <a:srgbClr val="7A9E8A"/>
          </a:solidFill>
          <a:ln w="12700">
            <a:solidFill>
              <a:srgbClr val="7A9E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978408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7626096" y="1892808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99248" y="2322576"/>
            <a:ext cx="1170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hyperscaler API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0040" y="4919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mistral-lens x Partner Solution Architecture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914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3017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mistral-lens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62179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models. One pipeline. Built entirely on Mistral.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4592" y="713232"/>
            <a:ext cx="1572768" cy="4160520"/>
          </a:xfrm>
          <a:prstGeom prst="roundRect">
            <a:avLst>
              <a:gd name="adj" fmla="val 348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592" y="713232"/>
            <a:ext cx="157276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" y="7132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21208" y="1188720"/>
            <a:ext cx="493776" cy="493776"/>
          </a:xfrm>
          <a:prstGeom prst="ellipse">
            <a:avLst/>
          </a:prstGeom>
          <a:solidFill>
            <a:srgbClr val="1C2A3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1887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" y="17373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Documents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01168" y="19476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repliqa dataset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· HuggingFace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521208" y="2395728"/>
            <a:ext cx="493776" cy="493776"/>
          </a:xfrm>
          <a:prstGeom prst="ellipse">
            <a:avLst/>
          </a:prstGeom>
          <a:solidFill>
            <a:srgbClr val="1C2A3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23957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1168" y="29443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01168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per-document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input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521208" y="3602736"/>
            <a:ext cx="493776" cy="493776"/>
          </a:xfrm>
          <a:prstGeom prst="ellipse">
            <a:avLst/>
          </a:prstGeom>
          <a:solidFill>
            <a:srgbClr val="1C2A3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36027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01168" y="41513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01168" y="4361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· topic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reference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1737360" y="2679192"/>
            <a:ext cx="164592" cy="228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37360" y="2679192"/>
            <a:ext cx="164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C1A12"/>
                </a:solidFill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01952" y="713232"/>
            <a:ext cx="3858768" cy="4160520"/>
          </a:xfrm>
          <a:prstGeom prst="roundRect">
            <a:avLst>
              <a:gd name="adj" fmla="val 142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901952" y="713232"/>
            <a:ext cx="3858768" cy="2743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01952" y="713232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AI PIPELINE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029968" y="1133856"/>
            <a:ext cx="3593592" cy="1088136"/>
          </a:xfrm>
          <a:prstGeom prst="roundRect">
            <a:avLst>
              <a:gd name="adj" fmla="val 4202"/>
            </a:avLst>
          </a:prstGeom>
          <a:solidFill>
            <a:srgbClr val="0D1A26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29968" y="1133856"/>
            <a:ext cx="329184" cy="10881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29968" y="1133856"/>
            <a:ext cx="329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414016" y="1179576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Extraction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414016" y="1408176"/>
            <a:ext cx="3127248" cy="182880"/>
          </a:xfrm>
          <a:prstGeom prst="roundRect">
            <a:avLst>
              <a:gd name="adj" fmla="val 15000"/>
            </a:avLst>
          </a:prstGeom>
          <a:solidFill>
            <a:srgbClr val="1F2D3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14016" y="1408176"/>
            <a:ext cx="3127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mistral-ocr-latest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414016" y="161848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→ image → plain text · No markdown artifacts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2029968" y="1993392"/>
            <a:ext cx="3593592" cy="219456"/>
          </a:xfrm>
          <a:prstGeom prst="rect">
            <a:avLst/>
          </a:prstGeom>
          <a:solidFill>
            <a:srgbClr val="0A152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9968" y="1993392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WER 0.017  ·  ROUGE-L 0.999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3831336" y="2221992"/>
            <a:ext cx="0" cy="128016"/>
          </a:xfrm>
          <a:prstGeom prst="line">
            <a:avLst/>
          </a:prstGeom>
          <a:noFill/>
          <a:ln w="19050">
            <a:solidFill>
              <a:srgbClr val="FF6B35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2029968" y="2350008"/>
            <a:ext cx="3593592" cy="1088136"/>
          </a:xfrm>
          <a:prstGeom prst="roundRect">
            <a:avLst>
              <a:gd name="adj" fmla="val 4202"/>
            </a:avLst>
          </a:prstGeom>
          <a:solidFill>
            <a:srgbClr val="0D1A26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9968" y="2350008"/>
            <a:ext cx="329184" cy="1088136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9968" y="2350008"/>
            <a:ext cx="329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414016" y="239572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Classification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414016" y="2624328"/>
            <a:ext cx="3127248" cy="182880"/>
          </a:xfrm>
          <a:prstGeom prst="roundRect">
            <a:avLst>
              <a:gd name="adj" fmla="val 15000"/>
            </a:avLst>
          </a:prstGeom>
          <a:solidFill>
            <a:srgbClr val="1F2D3D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14016" y="2624328"/>
            <a:ext cx="3127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mistral-large-latest  →  open-mistral-7b (SFT)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2414016" y="2834640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label generation · Fine-tuning in progress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2029968" y="3209544"/>
            <a:ext cx="3593592" cy="219456"/>
          </a:xfrm>
          <a:prstGeom prst="rect">
            <a:avLst/>
          </a:prstGeom>
          <a:solidFill>
            <a:srgbClr val="0A1520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9968" y="3209544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LLM-judge 3.1/5  →  target 80%+ EM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3831336" y="3438144"/>
            <a:ext cx="0" cy="128016"/>
          </a:xfrm>
          <a:prstGeom prst="line">
            <a:avLst/>
          </a:prstGeom>
          <a:noFill/>
          <a:ln w="19050">
            <a:solidFill>
              <a:srgbClr val="FF6B35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2029968" y="3566160"/>
            <a:ext cx="3593592" cy="1088136"/>
          </a:xfrm>
          <a:prstGeom prst="roundRect">
            <a:avLst>
              <a:gd name="adj" fmla="val 4202"/>
            </a:avLst>
          </a:prstGeom>
          <a:solidFill>
            <a:srgbClr val="0D1A26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29968" y="3566160"/>
            <a:ext cx="329184" cy="1088136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29968" y="3566160"/>
            <a:ext cx="329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414016" y="3611880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Q&amp;A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414016" y="3840480"/>
            <a:ext cx="3127248" cy="182880"/>
          </a:xfrm>
          <a:prstGeom prst="roundRect">
            <a:avLst>
              <a:gd name="adj" fmla="val 15000"/>
            </a:avLst>
          </a:prstGeom>
          <a:solidFill>
            <a:srgbClr val="1F2D3D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4016" y="3840480"/>
            <a:ext cx="3127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mistral-large-latest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2414016" y="405079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Doc-only context · Explicit grounding in system prompt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2029968" y="4425696"/>
            <a:ext cx="3593592" cy="219456"/>
          </a:xfrm>
          <a:prstGeom prst="rect">
            <a:avLst/>
          </a:prstGeom>
          <a:solidFill>
            <a:srgbClr val="0A1520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029968" y="4425696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Answer score 4.9 / 5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5760720" y="2679192"/>
            <a:ext cx="164592" cy="228600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60720" y="2679192"/>
            <a:ext cx="164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C1A12"/>
                </a:solidFill>
              </a:rPr>
              <a:t>▶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925312" y="713232"/>
            <a:ext cx="1920240" cy="416052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4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925312" y="713232"/>
            <a:ext cx="1920240" cy="274320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713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016752" y="1133856"/>
            <a:ext cx="1737360" cy="795528"/>
          </a:xfrm>
          <a:prstGeom prst="roundRect">
            <a:avLst>
              <a:gd name="adj" fmla="val 5747"/>
            </a:avLst>
          </a:prstGeom>
          <a:solidFill>
            <a:srgbClr val="0D1A20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1170432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WER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035040" y="134416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0.017</a:t>
            </a:r>
            <a:endParaRPr lang="en-US" sz="2000" dirty="0"/>
          </a:p>
        </p:txBody>
      </p:sp>
      <p:sp>
        <p:nvSpPr>
          <p:cNvPr id="63" name="Text 61"/>
          <p:cNvSpPr/>
          <p:nvPr/>
        </p:nvSpPr>
        <p:spPr>
          <a:xfrm>
            <a:off x="6035040" y="1728216"/>
            <a:ext cx="1700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&lt; 0.15</a:t>
            </a:r>
            <a:endParaRPr lang="en-US" sz="600" dirty="0"/>
          </a:p>
        </p:txBody>
      </p:sp>
      <p:sp>
        <p:nvSpPr>
          <p:cNvPr id="64" name="Shape 62"/>
          <p:cNvSpPr/>
          <p:nvPr/>
        </p:nvSpPr>
        <p:spPr>
          <a:xfrm>
            <a:off x="6016752" y="2057400"/>
            <a:ext cx="1737360" cy="795528"/>
          </a:xfrm>
          <a:prstGeom prst="roundRect">
            <a:avLst>
              <a:gd name="adj" fmla="val 5747"/>
            </a:avLst>
          </a:prstGeom>
          <a:solidFill>
            <a:srgbClr val="0D1A20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035040" y="2093976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ROUGE-L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035040" y="226771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2000" dirty="0"/>
          </a:p>
        </p:txBody>
      </p:sp>
      <p:sp>
        <p:nvSpPr>
          <p:cNvPr id="67" name="Text 65"/>
          <p:cNvSpPr/>
          <p:nvPr/>
        </p:nvSpPr>
        <p:spPr>
          <a:xfrm>
            <a:off x="6035040" y="2651760"/>
            <a:ext cx="1700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&gt; 0.80</a:t>
            </a:r>
            <a:endParaRPr lang="en-US" sz="600" dirty="0"/>
          </a:p>
        </p:txBody>
      </p:sp>
      <p:sp>
        <p:nvSpPr>
          <p:cNvPr id="68" name="Shape 66"/>
          <p:cNvSpPr/>
          <p:nvPr/>
        </p:nvSpPr>
        <p:spPr>
          <a:xfrm>
            <a:off x="6016752" y="2980944"/>
            <a:ext cx="1737360" cy="795528"/>
          </a:xfrm>
          <a:prstGeom prst="roundRect">
            <a:avLst>
              <a:gd name="adj" fmla="val 5747"/>
            </a:avLst>
          </a:prstGeom>
          <a:solidFill>
            <a:srgbClr val="0D1A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035040" y="3017520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Topic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035040" y="319125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3.1/5</a:t>
            </a:r>
            <a:endParaRPr lang="en-US" sz="2000" dirty="0"/>
          </a:p>
        </p:txBody>
      </p:sp>
      <p:sp>
        <p:nvSpPr>
          <p:cNvPr id="71" name="Text 69"/>
          <p:cNvSpPr/>
          <p:nvPr/>
        </p:nvSpPr>
        <p:spPr>
          <a:xfrm>
            <a:off x="6035040" y="3575304"/>
            <a:ext cx="1700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&gt; 4.0</a:t>
            </a:r>
            <a:endParaRPr lang="en-US" sz="600" dirty="0"/>
          </a:p>
        </p:txBody>
      </p:sp>
      <p:sp>
        <p:nvSpPr>
          <p:cNvPr id="72" name="Shape 70"/>
          <p:cNvSpPr/>
          <p:nvPr/>
        </p:nvSpPr>
        <p:spPr>
          <a:xfrm>
            <a:off x="6016752" y="3904488"/>
            <a:ext cx="1737360" cy="795528"/>
          </a:xfrm>
          <a:prstGeom prst="roundRect">
            <a:avLst>
              <a:gd name="adj" fmla="val 5747"/>
            </a:avLst>
          </a:prstGeom>
          <a:solidFill>
            <a:srgbClr val="0D1A20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035040" y="3941064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Q&amp;A Score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6035040" y="411480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4.9/5</a:t>
            </a:r>
            <a:endParaRPr lang="en-US" sz="2000" dirty="0"/>
          </a:p>
        </p:txBody>
      </p:sp>
      <p:sp>
        <p:nvSpPr>
          <p:cNvPr id="75" name="Text 73"/>
          <p:cNvSpPr/>
          <p:nvPr/>
        </p:nvSpPr>
        <p:spPr>
          <a:xfrm>
            <a:off x="6035040" y="4498848"/>
            <a:ext cx="1700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&gt; 4.0</a:t>
            </a:r>
            <a:endParaRPr lang="en-US" sz="600" dirty="0"/>
          </a:p>
        </p:txBody>
      </p:sp>
      <p:sp>
        <p:nvSpPr>
          <p:cNvPr id="76" name="Shape 74"/>
          <p:cNvSpPr/>
          <p:nvPr/>
        </p:nvSpPr>
        <p:spPr>
          <a:xfrm>
            <a:off x="7845552" y="2679192"/>
            <a:ext cx="164592" cy="2286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845552" y="2679192"/>
            <a:ext cx="164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F5F0"/>
                </a:solidFill>
              </a:rPr>
              <a:t>▶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8010144" y="713232"/>
            <a:ext cx="978408" cy="4160520"/>
          </a:xfrm>
          <a:prstGeom prst="roundRect">
            <a:avLst>
              <a:gd name="adj" fmla="val 56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40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8010144" y="713232"/>
            <a:ext cx="978408" cy="2743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010144" y="713232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8010144" y="1170432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500×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010144" y="1554480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8010144" y="2093976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$0.001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8010144" y="2478024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page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$0.75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8010144" y="3017520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8010144" y="3401568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doc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8010144" y="3941064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8010144" y="4325112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0" y="4910328"/>
            <a:ext cx="9144000" cy="237744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28600" y="4919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</a:t>
            </a:r>
            <a:endParaRPr lang="en-US" sz="580" dirty="0"/>
          </a:p>
        </p:txBody>
      </p:sp>
      <p:sp>
        <p:nvSpPr>
          <p:cNvPr id="91" name="Text 89"/>
          <p:cNvSpPr/>
          <p:nvPr/>
        </p:nvSpPr>
        <p:spPr>
          <a:xfrm>
            <a:off x="868680" y="4919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repliqa (ServiceNow · HuggingFace)</a:t>
            </a:r>
            <a:endParaRPr lang="en-US" sz="580" dirty="0"/>
          </a:p>
        </p:txBody>
      </p:sp>
      <p:sp>
        <p:nvSpPr>
          <p:cNvPr id="92" name="Text 90"/>
          <p:cNvSpPr/>
          <p:nvPr/>
        </p:nvSpPr>
        <p:spPr>
          <a:xfrm>
            <a:off x="2468880" y="4919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 </a:t>
            </a:r>
            <a:endParaRPr lang="en-US" sz="580" dirty="0"/>
          </a:p>
        </p:txBody>
      </p:sp>
      <p:sp>
        <p:nvSpPr>
          <p:cNvPr id="93" name="Text 91"/>
          <p:cNvSpPr/>
          <p:nvPr/>
        </p:nvSpPr>
        <p:spPr>
          <a:xfrm>
            <a:off x="3108960" y="4919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docs · repliqa_3 (unseen)</a:t>
            </a:r>
            <a:endParaRPr lang="en-US" sz="580" dirty="0"/>
          </a:p>
        </p:txBody>
      </p:sp>
      <p:sp>
        <p:nvSpPr>
          <p:cNvPr id="94" name="Text 92"/>
          <p:cNvSpPr/>
          <p:nvPr/>
        </p:nvSpPr>
        <p:spPr>
          <a:xfrm>
            <a:off x="4709160" y="4919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set  </a:t>
            </a:r>
            <a:endParaRPr lang="en-US" sz="580" dirty="0"/>
          </a:p>
        </p:txBody>
      </p:sp>
      <p:sp>
        <p:nvSpPr>
          <p:cNvPr id="95" name="Text 93"/>
          <p:cNvSpPr/>
          <p:nvPr/>
        </p:nvSpPr>
        <p:spPr>
          <a:xfrm>
            <a:off x="5349240" y="4919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docs · repliqa_0</a:t>
            </a:r>
            <a:endParaRPr lang="en-US" sz="580" dirty="0"/>
          </a:p>
        </p:txBody>
      </p:sp>
      <p:sp>
        <p:nvSpPr>
          <p:cNvPr id="96" name="Text 94"/>
          <p:cNvSpPr/>
          <p:nvPr/>
        </p:nvSpPr>
        <p:spPr>
          <a:xfrm>
            <a:off x="6949440" y="49194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 </a:t>
            </a:r>
            <a:endParaRPr lang="en-US" sz="580" dirty="0"/>
          </a:p>
        </p:txBody>
      </p:sp>
      <p:sp>
        <p:nvSpPr>
          <p:cNvPr id="97" name="Text 95"/>
          <p:cNvSpPr/>
          <p:nvPr/>
        </p:nvSpPr>
        <p:spPr>
          <a:xfrm>
            <a:off x="7589520" y="4919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· localhost:7860</a:t>
            </a:r>
            <a:endParaRPr lang="en-US" sz="5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645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20624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Evaluated on </a:t>
            </a:r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repliqa_3</a:t>
            </a:r>
            <a:pPr indent="0" marL="0">
              <a:buNone/>
            </a:pPr>
            <a:r>
              <a:rPr lang="en-US" sz="1600" dirty="0">
                <a:solidFill>
                  <a:srgbClr val="F5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holdout — 15 unseen documents.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4206240" cy="3520440"/>
          </a:xfrm>
          <a:prstGeom prst="roundRect">
            <a:avLst>
              <a:gd name="adj" fmla="val 1558"/>
            </a:avLst>
          </a:prstGeom>
          <a:solidFill>
            <a:srgbClr val="13261A"/>
          </a:solidFill>
          <a:ln w="12700">
            <a:solidFill>
              <a:srgbClr val="1E382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960120"/>
            <a:ext cx="4206240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60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BENCHMARK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11480" y="1298448"/>
            <a:ext cx="1463040" cy="256032"/>
          </a:xfrm>
          <a:prstGeom prst="rect">
            <a:avLst/>
          </a:prstGeom>
          <a:solidFill>
            <a:srgbClr val="1A3030"/>
          </a:solidFill>
          <a:ln w="12700">
            <a:solidFill>
              <a:srgbClr val="1A30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2984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874520" y="1298448"/>
            <a:ext cx="1188720" cy="256032"/>
          </a:xfrm>
          <a:prstGeom prst="rect">
            <a:avLst/>
          </a:prstGeom>
          <a:solidFill>
            <a:srgbClr val="1A3030"/>
          </a:solidFill>
          <a:ln w="12700">
            <a:solidFill>
              <a:srgbClr val="1A3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74520" y="12984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063240" y="1298448"/>
            <a:ext cx="1188720" cy="256032"/>
          </a:xfrm>
          <a:prstGeom prst="rect">
            <a:avLst/>
          </a:prstGeom>
          <a:solidFill>
            <a:srgbClr val="1A3030"/>
          </a:solidFill>
          <a:ln w="12700">
            <a:solidFill>
              <a:srgbClr val="1A3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12984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Result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251960" y="1298448"/>
            <a:ext cx="731520" cy="256032"/>
          </a:xfrm>
          <a:prstGeom prst="rect">
            <a:avLst/>
          </a:prstGeom>
          <a:solidFill>
            <a:srgbClr val="1A3030"/>
          </a:solidFill>
          <a:ln w="12700">
            <a:solidFill>
              <a:srgbClr val="1A3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2984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11480" y="1554480"/>
            <a:ext cx="146304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554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(text)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74520" y="1554480"/>
            <a:ext cx="11887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0" y="15544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0.15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063240" y="1554480"/>
            <a:ext cx="11887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5544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0.017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251960" y="1554480"/>
            <a:ext cx="7315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15544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9×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11480" y="2084832"/>
            <a:ext cx="146304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20848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874520" y="2084832"/>
            <a:ext cx="118872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0240" y="208483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0.80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063240" y="2084832"/>
            <a:ext cx="118872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208483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0.999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251960" y="2084832"/>
            <a:ext cx="73152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0" y="2084832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near-perfect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11480" y="2615184"/>
            <a:ext cx="146304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151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Accuracy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874520" y="2615184"/>
            <a:ext cx="11887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261518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80%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63240" y="2615184"/>
            <a:ext cx="11887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08960" y="261518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3.1/5 LLM-j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251960" y="2615184"/>
            <a:ext cx="7315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97680" y="2615184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SFT ongoing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11480" y="3145536"/>
            <a:ext cx="146304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314553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Score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874520" y="3145536"/>
            <a:ext cx="118872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20240" y="314553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4.0/5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063240" y="3145536"/>
            <a:ext cx="118872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08960" y="314553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4.9/5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251960" y="3145536"/>
            <a:ext cx="731520" cy="502920"/>
          </a:xfrm>
          <a:prstGeom prst="rect">
            <a:avLst/>
          </a:prstGeom>
          <a:solidFill>
            <a:srgbClr val="0A1818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97680" y="3145536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excellent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11480" y="3675888"/>
            <a:ext cx="146304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36758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874520" y="3675888"/>
            <a:ext cx="11887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0240" y="367588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063240" y="3675888"/>
            <a:ext cx="11887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08960" y="367588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5.0s/doc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251960" y="3675888"/>
            <a:ext cx="731520" cy="502920"/>
          </a:xfrm>
          <a:prstGeom prst="rect">
            <a:avLst/>
          </a:prstGeom>
          <a:solidFill>
            <a:srgbClr val="0E2020"/>
          </a:solidFill>
          <a:ln w="12700">
            <a:solidFill>
              <a:srgbClr val="1A302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97680" y="3675888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real-time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11480" y="422452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repliqa holdout (repliqa_3) · 15 unseen documents · March 2026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4754880" y="960120"/>
            <a:ext cx="4160520" cy="3520440"/>
          </a:xfrm>
          <a:prstGeom prst="roundRect">
            <a:avLst>
              <a:gd name="adj" fmla="val 1558"/>
            </a:avLst>
          </a:prstGeom>
          <a:solidFill>
            <a:srgbClr val="13261A"/>
          </a:solidFill>
          <a:ln w="12700">
            <a:solidFill>
              <a:srgbClr val="1E382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754880" y="960120"/>
            <a:ext cx="4160520" cy="2743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0" y="9601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 —  100,000 pages / month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919472" y="1298448"/>
            <a:ext cx="1828800" cy="1417320"/>
          </a:xfrm>
          <a:prstGeom prst="roundRect">
            <a:avLst>
              <a:gd name="adj" fmla="val 3871"/>
            </a:avLst>
          </a:prstGeom>
          <a:solidFill>
            <a:srgbClr val="0D1A12"/>
          </a:solidFill>
          <a:ln w="12700">
            <a:solidFill>
              <a:srgbClr val="E055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4919472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919472" y="159105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$75,000</a:t>
            </a:r>
            <a:endParaRPr lang="en-US" sz="3200" dirty="0"/>
          </a:p>
        </p:txBody>
      </p:sp>
      <p:sp>
        <p:nvSpPr>
          <p:cNvPr id="63" name="Text 61"/>
          <p:cNvSpPr/>
          <p:nvPr/>
        </p:nvSpPr>
        <p:spPr>
          <a:xfrm>
            <a:off x="4919472" y="21579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month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4919472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$0.75 × 100K pages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6931152" y="1298448"/>
            <a:ext cx="1828800" cy="1417320"/>
          </a:xfrm>
          <a:prstGeom prst="roundRect">
            <a:avLst>
              <a:gd name="adj" fmla="val 3871"/>
            </a:avLst>
          </a:prstGeom>
          <a:solidFill>
            <a:srgbClr val="0D1A12"/>
          </a:solidFill>
          <a:ln w="12700">
            <a:solidFill>
              <a:srgbClr val="3DDC8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6931152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mistral-lens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6931152" y="159105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</a:t>
            </a:r>
            <a:endParaRPr lang="en-US" sz="3200" dirty="0"/>
          </a:p>
        </p:txBody>
      </p:sp>
      <p:sp>
        <p:nvSpPr>
          <p:cNvPr id="68" name="Text 66"/>
          <p:cNvSpPr/>
          <p:nvPr/>
        </p:nvSpPr>
        <p:spPr>
          <a:xfrm>
            <a:off x="6931152" y="21579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month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931152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~$0.001 × 100K pages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656832" y="169164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919472" y="2816352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0A2010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19472" y="2862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4919472" y="30449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$898,800 / year</a:t>
            </a:r>
            <a:endParaRPr lang="en-US" sz="2600" dirty="0"/>
          </a:p>
        </p:txBody>
      </p:sp>
      <p:sp>
        <p:nvSpPr>
          <p:cNvPr id="74" name="Text 72"/>
          <p:cNvSpPr/>
          <p:nvPr/>
        </p:nvSpPr>
        <p:spPr>
          <a:xfrm>
            <a:off x="4919472" y="37033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 Open weights — no vendor lock-in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919472" y="39502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🇪🇺  European · GDPR-native · data sovereignty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919472" y="41970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On-prem option via open-weight models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20040" y="4892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mistral-lens × Partner Solution Architecture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64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Q&amp;A REFERENCE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 to have ready. Keep this slide open during the panel. Do not use it in the video.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4160520" cy="1783080"/>
          </a:xfrm>
          <a:prstGeom prst="roundRect">
            <a:avLst>
              <a:gd name="adj" fmla="val 3077"/>
            </a:avLst>
          </a:prstGeom>
          <a:solidFill>
            <a:srgbClr val="13261A"/>
          </a:solidFill>
          <a:ln w="12700">
            <a:solidFill>
              <a:srgbClr val="E055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4160520" cy="256032"/>
          </a:xfrm>
          <a:prstGeom prst="rect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COMPARISON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02920" y="12161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Incumbent: $0.75 / page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16367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Mistral OCR: ~$0.001 / page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Saving: ~99% on processing cost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00600" y="868680"/>
            <a:ext cx="4160520" cy="1783080"/>
          </a:xfrm>
          <a:prstGeom prst="roundRect">
            <a:avLst>
              <a:gd name="adj" fmla="val 3077"/>
            </a:avLst>
          </a:prstGeom>
          <a:solidFill>
            <a:srgbClr val="13261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868680"/>
            <a:ext cx="4160520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8686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BASELINE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83480" y="12161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Incumbent: 85% (customer-reported)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83480" y="16367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Mistral WER: 0.017 (vs target 0.15)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8348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LLM-judge Q&amp;A: 4.9 / 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4160520" cy="1783080"/>
          </a:xfrm>
          <a:prstGeom prst="roundRect">
            <a:avLst>
              <a:gd name="adj" fmla="val 3077"/>
            </a:avLst>
          </a:prstGeom>
          <a:solidFill>
            <a:srgbClr val="13261A"/>
          </a:solidFill>
          <a:ln w="12700">
            <a:solidFill>
              <a:srgbClr val="3DDC8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4160520" cy="25603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83464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ANSWER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02920" y="3182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100k pages/month: ~$100 vs $75,000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36027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Stateless API — horizontal scaling trivial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On-prem option via open weights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834640"/>
            <a:ext cx="4160520" cy="1783080"/>
          </a:xfrm>
          <a:prstGeom prst="roundRect">
            <a:avLst>
              <a:gd name="adj" fmla="val 3077"/>
            </a:avLst>
          </a:prstGeom>
          <a:solidFill>
            <a:srgbClr val="13261A"/>
          </a:solidFill>
          <a:ln w="12700">
            <a:solidFill>
              <a:srgbClr val="A855F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00600" y="2834640"/>
            <a:ext cx="4160520" cy="25603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83464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0C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MISTRAL SPECIFICALLY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983480" y="3182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Open weight models — no vendor lock-in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83480" y="36027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Data sovereignty — runs on your infra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8348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European company — GDPR-native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mistral-lens · Partner Solution Architecture</dc:title>
  <dc:subject>PptxGenJS Presentation</dc:subject>
  <dc:creator>PptxGenJS</dc:creator>
  <cp:lastModifiedBy>PptxGenJS</cp:lastModifiedBy>
  <cp:revision>1</cp:revision>
  <dcterms:created xsi:type="dcterms:W3CDTF">2026-03-13T15:13:18Z</dcterms:created>
  <dcterms:modified xsi:type="dcterms:W3CDTF">2026-03-13T15:13:18Z</dcterms:modified>
</cp:coreProperties>
</file>