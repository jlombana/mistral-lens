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914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91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28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64592"/>
            <a:ext cx="1197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SOLUTION 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75520" y="731520"/>
            <a:ext cx="3474720" cy="3474720"/>
          </a:xfrm>
          <a:prstGeom prst="ellipse">
            <a:avLst/>
          </a:prstGeom>
          <a:solidFill>
            <a:srgbClr val="E8DDD0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3474720"/>
            <a:ext cx="2560320" cy="2560320"/>
          </a:xfrm>
          <a:prstGeom prst="ellipse">
            <a:avLst/>
          </a:prstGeom>
          <a:solidFill>
            <a:srgbClr val="EDE8E0"/>
          </a:solidFill>
          <a:ln w="12700">
            <a:solidFill>
              <a:srgbClr val="E0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85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1000" dirty="0"/>
          </a:p>
        </p:txBody>
      </p:sp>
      <p:sp>
        <p:nvSpPr>
          <p:cNvPr id="11" name="Shape 9"/>
          <p:cNvSpPr/>
          <p:nvPr/>
        </p:nvSpPr>
        <p:spPr>
          <a:xfrm>
            <a:off x="320040" y="4160520"/>
            <a:ext cx="1645920" cy="5486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3708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D5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Document Intelligence for the Enterprise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costly, locked-in OCR to accurate, sovereign Document AI — built entirely on Mistral.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6537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March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Lombana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9E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incumbent API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$0.75/page,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40817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delivers 85% accuracy,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8470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locks you in.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runs document processing on a competing hyperscaler.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their workflow costs them today.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BENCHMARK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0" y="502920"/>
            <a:ext cx="1920240" cy="5989320"/>
          </a:xfrm>
          <a:prstGeom prst="roundRect">
            <a:avLst>
              <a:gd name="adj" fmla="val 2857"/>
            </a:avLst>
          </a:prstGeom>
          <a:solidFill>
            <a:srgbClr val="13261A"/>
          </a:solidFill>
          <a:ln w="12700">
            <a:solidFill>
              <a:srgbClr val="E055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502920"/>
            <a:ext cx="1920240" cy="7315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749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943600" y="1691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057400"/>
            <a:ext cx="1463040" cy="9144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1396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vendor cost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1737360" cy="9144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834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035040" y="3063240"/>
            <a:ext cx="1737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per page processed. Includes OCR + basic extraction. No Q&amp;A or classification included.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28432" y="502920"/>
            <a:ext cx="1920240" cy="5989320"/>
          </a:xfrm>
          <a:prstGeom prst="roundRect">
            <a:avLst>
              <a:gd name="adj" fmla="val 2857"/>
            </a:avLst>
          </a:prstGeom>
          <a:solidFill>
            <a:srgbClr val="13261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28432" y="502920"/>
            <a:ext cx="1920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749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8028432" y="1691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57032" y="2057400"/>
            <a:ext cx="1463040" cy="9144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1396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by customer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19872" y="2743200"/>
            <a:ext cx="1737360" cy="9144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9872" y="2834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8119872" y="3063240"/>
            <a:ext cx="1737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extraction metric: field found vs. not found. Does not capture nuance, relevance, or answer quality — misaligned with Gen AI eval approaches.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113264" y="502920"/>
            <a:ext cx="1920240" cy="5989320"/>
          </a:xfrm>
          <a:prstGeom prst="roundRect">
            <a:avLst>
              <a:gd name="adj" fmla="val 2857"/>
            </a:avLst>
          </a:prstGeom>
          <a:solidFill>
            <a:srgbClr val="13261A"/>
          </a:solidFill>
          <a:ln w="12700">
            <a:solidFill>
              <a:srgbClr val="7A9E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13264" y="502920"/>
            <a:ext cx="1920240" cy="73152"/>
          </a:xfrm>
          <a:prstGeom prst="rect">
            <a:avLst/>
          </a:prstGeom>
          <a:solidFill>
            <a:srgbClr val="7A9E8A"/>
          </a:solidFill>
          <a:ln w="12700">
            <a:solidFill>
              <a:srgbClr val="7A9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13264" y="749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10113264" y="1691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41864" y="2057400"/>
            <a:ext cx="1463040" cy="9144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4704" y="21396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hyperscaler API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204704" y="2743200"/>
            <a:ext cx="1737360" cy="9144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04704" y="2834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0204704" y="3063240"/>
            <a:ext cx="1737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API with no open-weight option. Migration requires full re-engineering of pipeline and data contracts.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315468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326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2735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Why the 85% metric is insufficient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65760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 uses binary field-extraction accuracy: a field is either found or not. This fails to capture: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Relevance of extracted content to the actual question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Coherence and completeness of generated answers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similarity beyond exact match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mistral-lens adopts a multi-metric Gen AI approach: WER (text fidelity), ROUGE-L (coverage), LLM-as-judge for topic and Q&amp;A quality. This produces richer, more actionable signal.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/ PLATFORM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mistral-lens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0607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pipeline. Built entirely on Mistral.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463040"/>
            <a:ext cx="2331720" cy="402336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463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33472" y="1463040"/>
            <a:ext cx="5532120" cy="402336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463040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PIPELINE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84464" y="1463040"/>
            <a:ext cx="2331720" cy="402336"/>
          </a:xfrm>
          <a:prstGeom prst="rect">
            <a:avLst/>
          </a:prstGeom>
          <a:solidFill>
            <a:srgbClr val="009B77"/>
          </a:solidFill>
          <a:ln w="12700">
            <a:solidFill>
              <a:srgbClr val="009B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4630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735056" y="1463040"/>
            <a:ext cx="1298448" cy="402336"/>
          </a:xfrm>
          <a:prstGeom prst="rect">
            <a:avLst/>
          </a:prstGeom>
          <a:solidFill>
            <a:srgbClr val="6B35A8"/>
          </a:solidFill>
          <a:ln w="12700">
            <a:solidFill>
              <a:srgbClr val="6B3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5056" y="14630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1865376"/>
            <a:ext cx="2331720" cy="4370832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0665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repliqa dataset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· HuggingFace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511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1168" y="4014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" y="43159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input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48828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" y="5385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" y="5687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topic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reference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33472" y="1865376"/>
            <a:ext cx="5532120" cy="4370832"/>
          </a:xfrm>
          <a:prstGeom prst="rect">
            <a:avLst/>
          </a:prstGeom>
          <a:solidFill>
            <a:srgbClr val="FDFAF5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975104"/>
            <a:ext cx="5212080" cy="1298448"/>
          </a:xfrm>
          <a:prstGeom prst="roundRect">
            <a:avLst>
              <a:gd name="adj" fmla="val 4225"/>
            </a:avLst>
          </a:prstGeom>
          <a:solidFill>
            <a:srgbClr val="F2EDE4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20482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048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20665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 Extraction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432304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mistral-ocr-latest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0" y="2743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image → plain text. No markdown artifacts. Layout-aware.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88920" y="3163824"/>
            <a:ext cx="5212080" cy="21945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1638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WER 0.017  ·  ROUGE-L 0.999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0" y="3383280"/>
            <a:ext cx="731520" cy="182880"/>
          </a:xfrm>
          <a:prstGeom prst="downArrow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8920" y="3401568"/>
            <a:ext cx="5212080" cy="1298448"/>
          </a:xfrm>
          <a:prstGeom prst="roundRect">
            <a:avLst>
              <a:gd name="adj" fmla="val 4225"/>
            </a:avLst>
          </a:prstGeom>
          <a:solidFill>
            <a:srgbClr val="F2EDE4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3474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74720" y="34930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Classification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74720" y="3858768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mistral-large-latest (few-shot)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0" y="4169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17-category taxonomy. Few-shot prompt with chain-of-thought.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88920" y="4590288"/>
            <a:ext cx="5212080" cy="219456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45902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Accuracy 93.3% (14/15)  ·  Score 4.9/5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0" y="4809744"/>
            <a:ext cx="731520" cy="182880"/>
          </a:xfrm>
          <a:prstGeom prst="downArrow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88920" y="4837176"/>
            <a:ext cx="5212080" cy="1298448"/>
          </a:xfrm>
          <a:prstGeom prst="roundRect">
            <a:avLst>
              <a:gd name="adj" fmla="val 4225"/>
            </a:avLst>
          </a:prstGeom>
          <a:solidFill>
            <a:srgbClr val="F2EDE4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80360" y="4910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D5A2D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474720" y="49286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Q&amp;A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474720" y="5294376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2D5A2D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5294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mistral-large-latest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474720" y="5605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Doc-only context. Explicit grounding in system prompt — no hallucination.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88920" y="6025896"/>
            <a:ext cx="5212080" cy="219456"/>
          </a:xfrm>
          <a:prstGeom prst="rect">
            <a:avLst/>
          </a:prstGeom>
          <a:solidFill>
            <a:srgbClr val="2D5A2D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80360" y="6025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LLM-judge 4.9/5  ·  Latency 5.3s/doc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284464" y="1865376"/>
            <a:ext cx="2331720" cy="4370832"/>
          </a:xfrm>
          <a:prstGeom prst="rect">
            <a:avLst/>
          </a:prstGeom>
          <a:solidFill>
            <a:srgbClr val="F5F0E8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66760" y="1975104"/>
            <a:ext cx="2176272" cy="987552"/>
          </a:xfrm>
          <a:prstGeom prst="roundRect">
            <a:avLst>
              <a:gd name="adj" fmla="val 5556"/>
            </a:avLst>
          </a:prstGeom>
          <a:solidFill>
            <a:srgbClr val="FDFAF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202996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WER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412480" y="22860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8412480" y="270662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0.15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366760" y="3054096"/>
            <a:ext cx="2176272" cy="987552"/>
          </a:xfrm>
          <a:prstGeom prst="roundRect">
            <a:avLst>
              <a:gd name="adj" fmla="val 5556"/>
            </a:avLst>
          </a:prstGeom>
          <a:solidFill>
            <a:srgbClr val="FDFAF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10896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ROUGE-L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412480" y="336499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8412480" y="378561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0.80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366760" y="4133088"/>
            <a:ext cx="2176272" cy="987552"/>
          </a:xfrm>
          <a:prstGeom prst="roundRect">
            <a:avLst>
              <a:gd name="adj" fmla="val 5556"/>
            </a:avLst>
          </a:prstGeom>
          <a:solidFill>
            <a:srgbClr val="FDFAF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418795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Topic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412480" y="44439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8412480" y="486460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80%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366760" y="5212080"/>
            <a:ext cx="2176272" cy="987552"/>
          </a:xfrm>
          <a:prstGeom prst="roundRect">
            <a:avLst>
              <a:gd name="adj" fmla="val 5556"/>
            </a:avLst>
          </a:prstGeom>
          <a:solidFill>
            <a:srgbClr val="FDFAF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526694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Q&amp;A Score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412480" y="5522976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4.9/5</a:t>
            </a:r>
            <a:endParaRPr lang="en-US" sz="2600" dirty="0"/>
          </a:p>
        </p:txBody>
      </p:sp>
      <p:sp>
        <p:nvSpPr>
          <p:cNvPr id="70" name="Text 68"/>
          <p:cNvSpPr/>
          <p:nvPr/>
        </p:nvSpPr>
        <p:spPr>
          <a:xfrm>
            <a:off x="8412480" y="594360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4.0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735056" y="1865376"/>
            <a:ext cx="1298448" cy="4370832"/>
          </a:xfrm>
          <a:prstGeom prst="rect">
            <a:avLst/>
          </a:prstGeom>
          <a:solidFill>
            <a:srgbClr val="EDE8E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753344" y="200253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500×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0753344" y="25511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881360" y="3008376"/>
            <a:ext cx="1005840" cy="9144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753344" y="33284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$0.0049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0753344" y="387705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$0.75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0881360" y="4334256"/>
            <a:ext cx="1005840" cy="9144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753344" y="460857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5.3s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0753344" y="515721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doc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0881360" y="5614416"/>
            <a:ext cx="1005840" cy="9144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753344" y="56144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0753344" y="616305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0881360" y="6620256"/>
            <a:ext cx="1005840" cy="9144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82880" y="6236208"/>
            <a:ext cx="11850624" cy="25603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6236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repliqa (ServiceNow · HuggingFace)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840480" y="6236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Holdout: 15 docs · repliqa_3 (unseen)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858000" y="6236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set: 50 docs · repliqa_0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9326880" y="6236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3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Gradio · localhost:7860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Evaluated on 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78608" y="4754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repliqa_3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06240" y="47548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holdout — 15 unseen documents.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598932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515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BENCHMARK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417320"/>
            <a:ext cx="1920240" cy="329184"/>
          </a:xfrm>
          <a:prstGeom prst="rect">
            <a:avLst/>
          </a:prstGeom>
          <a:solidFill>
            <a:srgbClr val="0D23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4173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76272" y="1417320"/>
            <a:ext cx="1097280" cy="329184"/>
          </a:xfrm>
          <a:prstGeom prst="rect">
            <a:avLst/>
          </a:prstGeom>
          <a:solidFill>
            <a:srgbClr val="0D23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417320"/>
            <a:ext cx="1554480" cy="329184"/>
          </a:xfrm>
          <a:prstGeom prst="rect">
            <a:avLst/>
          </a:prstGeom>
          <a:solidFill>
            <a:srgbClr val="0D23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417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Result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28032" y="1417320"/>
            <a:ext cx="914400" cy="329184"/>
          </a:xfrm>
          <a:prstGeom prst="rect">
            <a:avLst/>
          </a:prstGeom>
          <a:solidFill>
            <a:srgbClr val="0D23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417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42432" y="1417320"/>
            <a:ext cx="502920" cy="329184"/>
          </a:xfrm>
          <a:prstGeom prst="rect">
            <a:avLst/>
          </a:prstGeom>
          <a:solidFill>
            <a:srgbClr val="0D23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1746504"/>
            <a:ext cx="192024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76272" y="1746504"/>
            <a:ext cx="109728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73552" y="1746504"/>
            <a:ext cx="155448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1746504"/>
            <a:ext cx="91440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42432" y="1746504"/>
            <a:ext cx="50292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17465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(text)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31136" y="17465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28416" y="17465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2896" y="17465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9× better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97296" y="17465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221992"/>
            <a:ext cx="192024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76272" y="2221992"/>
            <a:ext cx="109728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552" y="2221992"/>
            <a:ext cx="155448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2221992"/>
            <a:ext cx="91440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42432" y="2221992"/>
            <a:ext cx="50292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2219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31136" y="2221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28416" y="2221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82896" y="22219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near-perfect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97296" y="22219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2697480"/>
            <a:ext cx="192024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76272" y="2697480"/>
            <a:ext cx="109728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73552" y="2697480"/>
            <a:ext cx="155448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8032" y="2697480"/>
            <a:ext cx="91440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42432" y="2697480"/>
            <a:ext cx="50292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2697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Accuracy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31136" y="26974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28416" y="2697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  (14/15)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82896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exceeds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97296" y="2697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3172968"/>
            <a:ext cx="192024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76272" y="3172968"/>
            <a:ext cx="109728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73552" y="3172968"/>
            <a:ext cx="155448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28032" y="3172968"/>
            <a:ext cx="91440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42432" y="3172968"/>
            <a:ext cx="50292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3172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Score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231136" y="31729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4.0/5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28416" y="31729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/ 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82896" y="31729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excellent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97296" y="31729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3648456"/>
            <a:ext cx="192024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76272" y="3648456"/>
            <a:ext cx="109728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73552" y="3648456"/>
            <a:ext cx="155448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28032" y="3648456"/>
            <a:ext cx="91440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42432" y="3648456"/>
            <a:ext cx="502920" cy="475488"/>
          </a:xfrm>
          <a:prstGeom prst="rect">
            <a:avLst/>
          </a:prstGeom>
          <a:solidFill>
            <a:srgbClr val="0F2218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0896" y="36484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Score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231136" y="36484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4.0/5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328416" y="36484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/ 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82896" y="36484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excellent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797296" y="36484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" y="4123944"/>
            <a:ext cx="192024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76272" y="4123944"/>
            <a:ext cx="109728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73552" y="4123944"/>
            <a:ext cx="155448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28032" y="4123944"/>
            <a:ext cx="91440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42432" y="4123944"/>
            <a:ext cx="502920" cy="475488"/>
          </a:xfrm>
          <a:prstGeom prst="rect">
            <a:avLst/>
          </a:prstGeom>
          <a:solidFill>
            <a:srgbClr val="13261A"/>
          </a:solidFill>
          <a:ln w="12700">
            <a:solidFill>
              <a:srgbClr val="1E382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0896" y="41239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231136" y="41239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328416" y="41239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5.3s / doc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882896" y="41239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797296" y="41239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56032" y="4709160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repliqa holdout (repliqa_3) · 15 unseen documents · March 2026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492240" y="1051560"/>
            <a:ext cx="5486400" cy="36576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922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 —  100,000 pages / month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601968" y="1527048"/>
            <a:ext cx="2578608" cy="2286000"/>
          </a:xfrm>
          <a:prstGeom prst="roundRect">
            <a:avLst>
              <a:gd name="adj" fmla="val 2400"/>
            </a:avLst>
          </a:prstGeom>
          <a:solidFill>
            <a:srgbClr val="13261A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01968" y="17099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Incumbent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601968" y="203911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$75,000</a:t>
            </a:r>
            <a:endParaRPr lang="en-US" sz="4800" dirty="0"/>
          </a:p>
        </p:txBody>
      </p:sp>
      <p:sp>
        <p:nvSpPr>
          <p:cNvPr id="85" name="Text 83"/>
          <p:cNvSpPr/>
          <p:nvPr/>
        </p:nvSpPr>
        <p:spPr>
          <a:xfrm>
            <a:off x="6601968" y="28620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601968" y="3118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$0.75 × 100K pages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9180576" y="24231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9345168" y="1527048"/>
            <a:ext cx="2578608" cy="2286000"/>
          </a:xfrm>
          <a:prstGeom prst="roundRect">
            <a:avLst>
              <a:gd name="adj" fmla="val 2400"/>
            </a:avLst>
          </a:prstGeom>
          <a:solidFill>
            <a:srgbClr val="13261A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345168" y="17099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mistral-lens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9345168" y="203911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</a:t>
            </a:r>
            <a:endParaRPr lang="en-US" sz="4800" dirty="0"/>
          </a:p>
        </p:txBody>
      </p:sp>
      <p:sp>
        <p:nvSpPr>
          <p:cNvPr id="91" name="Text 89"/>
          <p:cNvSpPr/>
          <p:nvPr/>
        </p:nvSpPr>
        <p:spPr>
          <a:xfrm>
            <a:off x="9345168" y="28620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9345168" y="3118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~$0.0049 × 100K docs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601968" y="3941064"/>
            <a:ext cx="5266944" cy="914400"/>
          </a:xfrm>
          <a:prstGeom prst="roundRect">
            <a:avLst>
              <a:gd name="adj" fmla="val 6000"/>
            </a:avLst>
          </a:prstGeom>
          <a:solidFill>
            <a:srgbClr val="13261A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20840" y="40142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720840" y="42885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$894,120 / year</a:t>
            </a:r>
            <a:endParaRPr lang="en-US" sz="2600" dirty="0"/>
          </a:p>
        </p:txBody>
      </p:sp>
      <p:sp>
        <p:nvSpPr>
          <p:cNvPr id="96" name="Text 94"/>
          <p:cNvSpPr/>
          <p:nvPr/>
        </p:nvSpPr>
        <p:spPr>
          <a:xfrm>
            <a:off x="6601968" y="5020056"/>
            <a:ext cx="5266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Open weights — no vendor lock-in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601968" y="5349240"/>
            <a:ext cx="5266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European · GDPR-native · data sovereignty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601968" y="5678424"/>
            <a:ext cx="5266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On-prem option via open-weight models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2D4A36"/>
          </a:solidFill>
          <a:ln w="12700">
            <a:solidFill>
              <a:srgbClr val="2D4A3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Q&amp;A — REFERENCE SHEET  (not for video)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answers for the live panel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E8541A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5623560" cy="7315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338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vs. incumbent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Incumbent: $0.75/page  →  $75K/month at 100K pages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9751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Mistral: $0.0049/doc  →  $490/month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39572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Saving: $74,510/month  ·  $894K/year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81635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500× cost reduction — verifiable from Mistral pricing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987552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1A6B35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87552"/>
            <a:ext cx="5623560" cy="73152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338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baseline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WER 0.017 (target &lt; 0.15) — 9× better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9751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ROUGE-L 0.999 (target &gt; 0.80) — near-perfect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39572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Topic accuracy 93.3% (14/15 docs)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81635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Q&amp;A score 4.9/5 LLM-judge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566160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566160"/>
            <a:ext cx="5623560" cy="7315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7124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about scale?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41330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Stateless pipeline — scales horizontally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" y="45537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doc: OCR + classify + Q&amp;A in 5.3s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" y="49743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Mistral API handles bursts natively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" y="539496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infra to manage — fully serverless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566160"/>
            <a:ext cx="5623560" cy="2359152"/>
          </a:xfrm>
          <a:prstGeom prst="roundRect">
            <a:avLst>
              <a:gd name="adj" fmla="val 2713"/>
            </a:avLst>
          </a:prstGeom>
          <a:solidFill>
            <a:srgbClr val="FDFAF5"/>
          </a:solidFill>
          <a:ln w="12700">
            <a:solidFill>
              <a:srgbClr val="6B35A8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566160"/>
            <a:ext cx="5623560" cy="73152"/>
          </a:xfrm>
          <a:prstGeom prst="rect">
            <a:avLst/>
          </a:prstGeom>
          <a:solidFill>
            <a:srgbClr val="6B35A8"/>
          </a:solidFill>
          <a:ln w="12700">
            <a:solidFill>
              <a:srgbClr val="6B35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7124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Mistral, not OpenAI?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413308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European sovereignty — GDPR-native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45537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 Plateforme: on-premise option available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49743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Mistral OCR built specifically for documents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539496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Price-performance: no other stack matches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proof-of-concept to production.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mistral-lens is validated on repliqa_3 holdout. These are the steps to enterprise deployment.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481328"/>
            <a:ext cx="5669280" cy="2304288"/>
          </a:xfrm>
          <a:prstGeom prst="roundRect">
            <a:avLst>
              <a:gd name="adj" fmla="val 2778"/>
            </a:avLst>
          </a:prstGeom>
          <a:solidFill>
            <a:srgbClr val="FDFAF5"/>
          </a:solidFill>
          <a:ln w="12700">
            <a:solidFill>
              <a:srgbClr val="E8541A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481328"/>
            <a:ext cx="5669280" cy="82296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6276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16642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 ·  Week 1–2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" y="18836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Data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Ingest customer PDF corpus into pipeline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OCR quality on real document formats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Calibrate topic taxonomy to customer domain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Establish ground-truth baseline for eval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481328"/>
            <a:ext cx="5669280" cy="2304288"/>
          </a:xfrm>
          <a:prstGeom prst="roundRect">
            <a:avLst>
              <a:gd name="adj" fmla="val 2778"/>
            </a:avLst>
          </a:prstGeom>
          <a:solidFill>
            <a:srgbClr val="FDFAF5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481328"/>
            <a:ext cx="5669280" cy="8229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16276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9712" y="16642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 ·  Week 2–4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18836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Fine-tuning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228600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 full eval on customer holdout set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45936" y="26517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Fine-tune topic classifier on domain data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45936" y="3017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Tune Q&amp;A system prompt for domain vocabulary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45936" y="33832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A/B vs. incumbent: side-by-side accuracy report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3968496"/>
            <a:ext cx="5669280" cy="2304288"/>
          </a:xfrm>
          <a:prstGeom prst="roundRect">
            <a:avLst>
              <a:gd name="adj" fmla="val 2778"/>
            </a:avLst>
          </a:prstGeom>
          <a:solidFill>
            <a:srgbClr val="FDFAF5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3968496"/>
            <a:ext cx="5669280" cy="82296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9536" y="41513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1A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 ·  Month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9536" y="43708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Deployment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47731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pipeline via Mistral La Plateforme API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51389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with customer's document ingestion flow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550468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monitoring: latency, cost, quality dashboards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587044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Optional: on-prem via open-weight models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3968496"/>
            <a:ext cx="5669280" cy="2304288"/>
          </a:xfrm>
          <a:prstGeom prst="roundRect">
            <a:avLst>
              <a:gd name="adj" fmla="val 2778"/>
            </a:avLst>
          </a:prstGeom>
          <a:solidFill>
            <a:srgbClr val="FDFAF5"/>
          </a:solidFill>
          <a:ln w="12700">
            <a:solidFill>
              <a:srgbClr val="2D5A2D"/>
            </a:solidFill>
            <a:prstDash val="solid"/>
          </a:ln>
          <a:effectLst>
            <a:outerShdw sx="100000" sy="100000" kx="0" ky="0" algn="bl" rotWithShape="0" blurRad="63500" dist="25400" dir="5400000">
              <a:srgbClr val="C0B8B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3968496"/>
            <a:ext cx="5669280" cy="82296"/>
          </a:xfrm>
          <a:prstGeom prst="rect">
            <a:avLst/>
          </a:prstGeom>
          <a:solidFill>
            <a:srgbClr val="2D5A2D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8504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D5A2D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39712" y="41513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D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39712" y="43708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Optimise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45936" y="47731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Continuous eval with new document batches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45936" y="513892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to additional document types / languages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45936" y="550468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Mistral Document AI advanced features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45936" y="587044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 ROI: cost savings vs. incumbent monthly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01168" y="6446520"/>
            <a:ext cx="11795760" cy="0"/>
          </a:xfrm>
          <a:prstGeom prst="round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66294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mistral-lens  ×  Partner Solution Architecture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144000" y="6629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2026-03-13T16:05:52Z</dcterms:created>
  <dcterms:modified xsi:type="dcterms:W3CDTF">2026-03-13T16:05:52Z</dcterms:modified>
</cp:coreProperties>
</file>