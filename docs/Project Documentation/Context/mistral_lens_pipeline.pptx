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425696" y="146304"/>
            <a:ext cx="155448" cy="155448"/>
          </a:xfrm>
          <a:prstGeom prst="rect">
            <a:avLst/>
          </a:prstGeom>
          <a:solidFill>
            <a:srgbClr val="3FCF8E"/>
          </a:solidFill>
          <a:ln w="12700">
            <a:solidFill>
              <a:srgbClr val="3F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291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mistral-lens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Intelligence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9875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spc="100" kern="0" dirty="0">
                <a:solidFill>
                  <a:srgbClr val="7A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 ·  Topic Classification  ·  Q&amp;A Generation  ·  Evaluation  ·  ROI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724912" cy="3246120"/>
          </a:xfrm>
          <a:prstGeom prst="rect">
            <a:avLst/>
          </a:prstGeom>
          <a:solidFill>
            <a:srgbClr val="1A4A32"/>
          </a:solidFill>
          <a:ln w="12700">
            <a:solidFill>
              <a:srgbClr val="3FCF8E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89888"/>
            <a:ext cx="2724912" cy="41148"/>
          </a:xfrm>
          <a:prstGeom prst="rect">
            <a:avLst/>
          </a:prstGeom>
          <a:solidFill>
            <a:srgbClr val="3FCF8E"/>
          </a:solidFill>
          <a:ln w="12700">
            <a:solidFill>
              <a:srgbClr val="3FC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 · Build batch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1929384"/>
            <a:ext cx="2468880" cy="9144"/>
          </a:xfrm>
          <a:prstGeom prst="rect">
            <a:avLst/>
          </a:prstGeom>
          <a:solidFill>
            <a:srgbClr val="3FCF8E">
              <a:alpha val="35000"/>
            </a:srgbClr>
          </a:solidFill>
          <a:ln w="12700">
            <a:solidFill>
              <a:srgbClr val="3FCF8E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084832"/>
            <a:ext cx="91440" cy="91440"/>
          </a:xfrm>
          <a:prstGeom prst="ellipse">
            <a:avLst/>
          </a:prstGeom>
          <a:solidFill>
            <a:srgbClr val="3FCF8E">
              <a:alpha val="70000"/>
            </a:srgbClr>
          </a:solidFill>
          <a:ln w="12700">
            <a:solidFill>
              <a:srgbClr val="3FCF8E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2996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mistral-ocr-latest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219456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 extraction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35915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PDF · Specialist vision model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" y="2743200"/>
            <a:ext cx="91440" cy="91440"/>
          </a:xfrm>
          <a:prstGeom prst="ellipse">
            <a:avLst/>
          </a:prstGeom>
          <a:solidFill>
            <a:srgbClr val="3FCF8E">
              <a:alpha val="70000"/>
            </a:srgbClr>
          </a:solidFill>
          <a:ln w="12700">
            <a:solidFill>
              <a:srgbClr val="3FCF8E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285292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30175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TOPIC_PROMPT v3 · Taxonomy injection · 3-shot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" y="3401568"/>
            <a:ext cx="91440" cy="91440"/>
          </a:xfrm>
          <a:prstGeom prst="ellipse">
            <a:avLst/>
          </a:prstGeom>
          <a:solidFill>
            <a:srgbClr val="3FCF8E">
              <a:alpha val="70000"/>
            </a:srgbClr>
          </a:solidFill>
          <a:ln w="12700">
            <a:solidFill>
              <a:srgbClr val="3FCF8E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4670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mistral-large-latest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" y="351129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generation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6758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QA_PROMPT · Grounding constraint · 1-2 shot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" y="3922776"/>
            <a:ext cx="2542032" cy="4572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3FCF8E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959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" y="416966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doc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709928" y="3959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09928" y="416966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Incumbent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8912" y="4425696"/>
            <a:ext cx="2542032" cy="164592"/>
          </a:xfrm>
          <a:prstGeom prst="rect">
            <a:avLst/>
          </a:prstGeom>
          <a:solidFill>
            <a:srgbClr val="3FCF8E">
              <a:alpha val="18000"/>
            </a:srgbClr>
          </a:solidFill>
          <a:ln w="12700">
            <a:solidFill>
              <a:srgbClr val="3FCF8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4256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Cache · MD5 hash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36976" y="1389888"/>
            <a:ext cx="2724912" cy="3538728"/>
          </a:xfrm>
          <a:prstGeom prst="rect">
            <a:avLst/>
          </a:prstGeom>
          <a:solidFill>
            <a:srgbClr val="1A3A4A"/>
          </a:solidFill>
          <a:ln w="12700">
            <a:solidFill>
              <a:srgbClr val="3FBFCF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6976" y="1389888"/>
            <a:ext cx="2724912" cy="41148"/>
          </a:xfrm>
          <a:prstGeom prst="rect">
            <a:avLst/>
          </a:prstGeom>
          <a:solidFill>
            <a:srgbClr val="3FBFCF"/>
          </a:solidFill>
          <a:ln w="12700">
            <a:solidFill>
              <a:srgbClr val="3FB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30752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64992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 · repliqa_3 holdout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64992" y="1929384"/>
            <a:ext cx="2468880" cy="9144"/>
          </a:xfrm>
          <a:prstGeom prst="rect">
            <a:avLst/>
          </a:prstGeom>
          <a:solidFill>
            <a:srgbClr val="3FBFCF">
              <a:alpha val="35000"/>
            </a:srgbClr>
          </a:solidFill>
          <a:ln w="12700">
            <a:solidFill>
              <a:srgbClr val="3FBFCF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64992" y="2084832"/>
            <a:ext cx="91440" cy="91440"/>
          </a:xfrm>
          <a:prstGeom prst="ellipse">
            <a:avLst/>
          </a:prstGeom>
          <a:solidFill>
            <a:srgbClr val="3FBFCF">
              <a:alpha val="70000"/>
            </a:srgbClr>
          </a:solidFill>
          <a:ln w="12700">
            <a:solidFill>
              <a:srgbClr val="3FBFCF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202996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11296" y="219456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 quality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11296" y="235915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vs ground truth · Target &lt; 15%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364992" y="2610612"/>
            <a:ext cx="91440" cy="91440"/>
          </a:xfrm>
          <a:prstGeom prst="ellipse">
            <a:avLst/>
          </a:prstGeom>
          <a:solidFill>
            <a:srgbClr val="3FBFCF">
              <a:alpha val="70000"/>
            </a:srgbClr>
          </a:solidFill>
          <a:ln w="12700">
            <a:solidFill>
              <a:srgbClr val="3FBFCF">
                <a:alpha val="9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255574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11296" y="272034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recovery score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511296" y="28849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 overlap · Target &gt; 0.80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64992" y="3136392"/>
            <a:ext cx="91440" cy="91440"/>
          </a:xfrm>
          <a:prstGeom prst="ellipse">
            <a:avLst/>
          </a:prstGeom>
          <a:solidFill>
            <a:srgbClr val="3FBFCF">
              <a:alpha val="70000"/>
            </a:srgbClr>
          </a:solidFill>
          <a:ln w="12700">
            <a:solidFill>
              <a:srgbClr val="3FBFCF">
                <a:alpha val="9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308152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Accuracy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511296" y="324612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exactness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511296" y="34107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vs GT label · Target ≥ 90%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364992" y="3662172"/>
            <a:ext cx="91440" cy="91440"/>
          </a:xfrm>
          <a:prstGeom prst="ellipse">
            <a:avLst/>
          </a:prstGeom>
          <a:solidFill>
            <a:srgbClr val="3FBFCF">
              <a:alpha val="70000"/>
            </a:srgbClr>
          </a:solidFill>
          <a:ln w="12700">
            <a:solidFill>
              <a:srgbClr val="3FBFCF">
                <a:alpha val="9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11296" y="360730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 (judge)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511296" y="377190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score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511296" y="39364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JUDGE_PROMPT · rubric 1–5 · JSON · Target &gt; 4.0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28416" y="4215384"/>
            <a:ext cx="2542032" cy="4572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3FBFCF">
                <a:alpha val="3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2519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 · 0.999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383280" y="4462272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· ROUGE-L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99432" y="425196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4.9/5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599432" y="4462272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328416" y="4718304"/>
            <a:ext cx="2542032" cy="164592"/>
          </a:xfrm>
          <a:prstGeom prst="rect">
            <a:avLst/>
          </a:prstGeom>
          <a:solidFill>
            <a:srgbClr val="3FBFCF">
              <a:alpha val="18000"/>
            </a:srgbClr>
          </a:solidFill>
          <a:ln w="12700">
            <a:solidFill>
              <a:srgbClr val="3FBFCF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28416" y="471830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docs · repliqa_3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6480" y="1389888"/>
            <a:ext cx="2724912" cy="3246120"/>
          </a:xfrm>
          <a:prstGeom prst="rect">
            <a:avLst/>
          </a:prstGeom>
          <a:solidFill>
            <a:srgbClr val="2A1A0A"/>
          </a:solidFill>
          <a:ln w="12700">
            <a:solidFill>
              <a:srgbClr val="CF9F3F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1389888"/>
            <a:ext cx="2724912" cy="41148"/>
          </a:xfrm>
          <a:prstGeom prst="rect">
            <a:avLst/>
          </a:prstGeom>
          <a:solidFill>
            <a:srgbClr val="CF9F3F"/>
          </a:solidFill>
          <a:ln w="12700">
            <a:solidFill>
              <a:srgbClr val="CF9F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20256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54496" y="1700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quality into financial impact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54496" y="1929384"/>
            <a:ext cx="2468880" cy="9144"/>
          </a:xfrm>
          <a:prstGeom prst="rect">
            <a:avLst/>
          </a:prstGeom>
          <a:solidFill>
            <a:srgbClr val="CF9F3F">
              <a:alpha val="35000"/>
            </a:srgbClr>
          </a:solidFill>
          <a:ln w="12700">
            <a:solidFill>
              <a:srgbClr val="CF9F3F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54496" y="2084832"/>
            <a:ext cx="91440" cy="91440"/>
          </a:xfrm>
          <a:prstGeom prst="ellipse">
            <a:avLst/>
          </a:prstGeom>
          <a:solidFill>
            <a:srgbClr val="CF9F3F">
              <a:alpha val="70000"/>
            </a:srgbClr>
          </a:solidFill>
          <a:ln w="12700">
            <a:solidFill>
              <a:srgbClr val="CF9F3F">
                <a:alpha val="9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202996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View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400800" y="219456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metrics vs targets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6400800" y="235915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· ROUGE-L · Topic % · Score · Latency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54496" y="2743200"/>
            <a:ext cx="91440" cy="91440"/>
          </a:xfrm>
          <a:prstGeom prst="ellipse">
            <a:avLst/>
          </a:prstGeom>
          <a:solidFill>
            <a:srgbClr val="CF9F3F">
              <a:alpha val="70000"/>
            </a:srgbClr>
          </a:solidFill>
          <a:ln w="12700">
            <a:solidFill>
              <a:srgbClr val="CF9F3F">
                <a:alpha val="9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0" y="268833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View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400800" y="285292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impact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400800" y="30175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error/60 words · Automated routing · 750× cost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54496" y="3401568"/>
            <a:ext cx="91440" cy="91440"/>
          </a:xfrm>
          <a:prstGeom prst="ellipse">
            <a:avLst/>
          </a:prstGeom>
          <a:solidFill>
            <a:srgbClr val="CF9F3F">
              <a:alpha val="70000"/>
            </a:srgbClr>
          </a:solidFill>
          <a:ln w="12700">
            <a:solidFill>
              <a:srgbClr val="CF9F3F">
                <a:alpha val="9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334670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Slider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400800" y="351129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savings calculator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6400800" y="36758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B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10k–1M pages/month · Incumbent vs Mistral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217920" y="3922776"/>
            <a:ext cx="2542032" cy="4572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CF9F3F">
                <a:alpha val="3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72784" y="3959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$898k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272784" y="416966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pages/mo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7488936" y="3959352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7488936" y="4169664"/>
            <a:ext cx="11795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217920" y="4425696"/>
            <a:ext cx="2542032" cy="164592"/>
          </a:xfrm>
          <a:prstGeom prst="rect">
            <a:avLst/>
          </a:prstGeom>
          <a:solidFill>
            <a:srgbClr val="CF9F3F">
              <a:alpha val="18000"/>
            </a:srgbClr>
          </a:solidFill>
          <a:ln w="12700">
            <a:solidFill>
              <a:srgbClr val="CF9F3F">
                <a:alpha val="4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17920" y="44256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F9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Tech / Business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081528" y="2948940"/>
            <a:ext cx="237744" cy="36576"/>
          </a:xfrm>
          <a:prstGeom prst="rect">
            <a:avLst/>
          </a:prstGeom>
          <a:solidFill>
            <a:srgbClr val="3FCF8E">
              <a:alpha val="60000"/>
            </a:srgbClr>
          </a:solidFill>
          <a:ln w="12700">
            <a:solidFill>
              <a:srgbClr val="3FCF8E">
                <a:alpha val="6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2700000">
            <a:off x="3273552" y="2903220"/>
            <a:ext cx="91440" cy="128016"/>
          </a:xfrm>
          <a:prstGeom prst="rect">
            <a:avLst/>
          </a:prstGeom>
          <a:solidFill>
            <a:srgbClr val="3FCF8E">
              <a:alpha val="60000"/>
            </a:srgbClr>
          </a:solidFill>
          <a:ln w="12700">
            <a:solidFill>
              <a:srgbClr val="3FCF8E">
                <a:alpha val="6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71032" y="2948940"/>
            <a:ext cx="237744" cy="36576"/>
          </a:xfrm>
          <a:prstGeom prst="rect">
            <a:avLst/>
          </a:prstGeom>
          <a:solidFill>
            <a:srgbClr val="3FCF8E">
              <a:alpha val="60000"/>
            </a:srgbClr>
          </a:solidFill>
          <a:ln w="12700">
            <a:solidFill>
              <a:srgbClr val="3FCF8E">
                <a:alpha val="6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2700000">
            <a:off x="6163056" y="2903220"/>
            <a:ext cx="91440" cy="128016"/>
          </a:xfrm>
          <a:prstGeom prst="rect">
            <a:avLst/>
          </a:prstGeom>
          <a:solidFill>
            <a:srgbClr val="3FCF8E">
              <a:alpha val="60000"/>
            </a:srgbClr>
          </a:solidFill>
          <a:ln w="12700">
            <a:solidFill>
              <a:srgbClr val="3FCF8E">
                <a:alpha val="6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47472" y="4937760"/>
            <a:ext cx="8449056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FCF8E">
                <a:alpha val="2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" y="4956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algn="ctr" indent="0" marL="0">
              <a:buNone/>
            </a:pPr>
            <a:r>
              <a:rPr lang="en-US" sz="85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repliqa_0/1/2 (dev · prompt tuning · few-shot)  ·  repliqa_3 (holdout · 50 docs · never seen)   </a:t>
            </a:r>
            <a:pPr algn="ctr" indent="0" marL="0">
              <a:buNone/>
            </a:pPr>
            <a:r>
              <a:rPr lang="en-US" sz="850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850" b="1" dirty="0">
                <a:solidFill>
                  <a:srgbClr val="3F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</a:t>
            </a:r>
            <a:pPr algn="ctr" indent="0" marL="0">
              <a:buNone/>
            </a:pPr>
            <a:r>
              <a:rPr lang="en-US" sz="850" dirty="0">
                <a:solidFill>
                  <a:srgbClr val="A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 · No RAG · No vector DB — quality through prompt engineering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Lens – Pipeline</dc:title>
  <dc:subject>PptxGenJS Presentation</dc:subject>
  <dc:creator>PptxGenJS</dc:creator>
  <cp:lastModifiedBy>PptxGenJS</cp:lastModifiedBy>
  <cp:revision>1</cp:revision>
  <dcterms:created xsi:type="dcterms:W3CDTF">2026-03-14T19:41:08Z</dcterms:created>
  <dcterms:modified xsi:type="dcterms:W3CDTF">2026-03-14T19:41:08Z</dcterms:modified>
</cp:coreProperties>
</file>