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0" y="7315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BENCHMARK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0" y="2651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Mistral AI Competitive Intelligence Report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3063240"/>
            <a:ext cx="5303520" cy="27432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3154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Business Case Edition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3520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Covering: OpenAI • Anthropic • Google • xAI • Meta • Mistral • DeepSeek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MMLU &amp; MMLU-Pro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GPQA Diamond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" y="1517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HumanEval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" y="18653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SWE-bench Verified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MATH-500 &amp; AIME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Chatbot Arena (Elo)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2880" y="2907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IFEval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" y="32552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Cost &amp; Latency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0" y="4663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MODELS  |  8 BENCHMARKS  |  MISTRAL PERSPECTIVE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Performance Overview — All Models × All Benchmarks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as of February 2026 | Higher = Better | Chatbot Arena = Elo score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841248"/>
          <a:ext cx="8924544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Model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MMLU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MMLU-Pro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GPQA ◆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HumanEval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SWE-bench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MATH-500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AIME 2025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7000"/>
                          </a:solidFill>
                        </a:rPr>
                        <a:t>Chatbot Arena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" y="1133856"/>
          <a:ext cx="8924544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GPT-5.2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91.0%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89.5%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92.4%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96.0%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80.0%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99.0%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1491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Claude Opus 4.5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90.0%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89.5%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87.0%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94.0%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80.9%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97.5%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1480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Gemini 3 Pro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92.0%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90.1%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91.9%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77.0%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98.5%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1501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Grok 4.1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90.5%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87.0%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87.5%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93.0%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74.0%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97.0%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98.0%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1483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Llama 4 Maverick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85.5%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79.0%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80.0%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86.4%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70.0%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89.0%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1360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7000"/>
                          </a:solidFill>
                        </a:rPr>
                        <a:t>Mistral Large 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85.5%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73.1%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</a:rPr>
                        <a:t>43.9%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92.0%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B923C"/>
                          </a:solidFill>
                        </a:rPr>
                        <a:t>55.0%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93.6%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72.0%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1418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0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DeepSeek V3.2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90.8%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84.0%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79.0%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6EFAC"/>
                          </a:solidFill>
                        </a:rPr>
                        <a:t>91.0%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CD34D"/>
                          </a:solidFill>
                        </a:rPr>
                        <a:t>72.0%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97.3%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95.0%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</a:rPr>
                        <a:t>1410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3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09728" y="40416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Legend: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1115568" y="4069080"/>
            <a:ext cx="91440" cy="1188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8"/>
          <p:cNvSpPr/>
          <p:nvPr/>
        </p:nvSpPr>
        <p:spPr>
          <a:xfrm>
            <a:off x="1243584" y="404164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≥92% (Elite)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2624328" y="4069080"/>
            <a:ext cx="91440" cy="118872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" name="Text 10"/>
          <p:cNvSpPr/>
          <p:nvPr/>
        </p:nvSpPr>
        <p:spPr>
          <a:xfrm>
            <a:off x="2752344" y="404164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82–91% (Strong)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133088" y="4069080"/>
            <a:ext cx="91440" cy="118872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6" name="Text 12"/>
          <p:cNvSpPr/>
          <p:nvPr/>
        </p:nvSpPr>
        <p:spPr>
          <a:xfrm>
            <a:off x="4261104" y="404164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70–81% (Good)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5641848" y="4069080"/>
            <a:ext cx="91440" cy="1188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8" name="Text 14"/>
          <p:cNvSpPr/>
          <p:nvPr/>
        </p:nvSpPr>
        <p:spPr>
          <a:xfrm>
            <a:off x="5769864" y="404164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55–69% (Fair)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7150608" y="4069080"/>
            <a:ext cx="91440" cy="11887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Text 16"/>
          <p:cNvSpPr/>
          <p:nvPr/>
        </p:nvSpPr>
        <p:spPr>
          <a:xfrm>
            <a:off x="7278624" y="4041648"/>
            <a:ext cx="1325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&lt;55% (Weak)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Competitive Positioning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Mistral Large 3 for the Business Case | February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" y="868680"/>
            <a:ext cx="4407408" cy="1956816"/>
          </a:xfrm>
          <a:prstGeom prst="rect">
            <a:avLst/>
          </a:prstGeom>
          <a:solidFill>
            <a:srgbClr val="0A201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868680"/>
            <a:ext cx="54864" cy="19568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" y="93268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MISTRAL LEADS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" y="11978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Apache 2.0 license — only frontier model with full commercial freedom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19456" y="14401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Cost: $0.50/1M tokens (vs $15–60 for GPT-5.2)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19456" y="168249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EU-sovereign infrastructure &amp; GDPR-native compliance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19456" y="19248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HumanEval 92% — top-3 open-weight coder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19456" y="21671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MATH-500 93.6% — matches proprietary frontier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19456" y="24094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256K context, runs on single 8-GPU node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19456" y="2651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#2 open-source non-reasoning on Chatbot Arena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626864" y="868680"/>
            <a:ext cx="4407408" cy="1956816"/>
          </a:xfrm>
          <a:prstGeom prst="rect">
            <a:avLst/>
          </a:prstGeom>
          <a:solidFill>
            <a:srgbClr val="2008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868680"/>
            <a:ext cx="54864" cy="195681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93268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MISTRAL LAGS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36592" y="11978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GPQA Diamond 43.9% — major gap vs GPT-5.2 (92.4%), Gemini (91.9%)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736592" y="14401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AIME 2025 72% — behind reasoning-focused models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736592" y="168249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dedicated reasoning/thinking mode yet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736592" y="19248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SWE-bench 55% — below Claude Opus (80.9%)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736592" y="21671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Less brand recognition in enterprise vs OpenAI/Google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736592" y="24094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Smaller ecosystem of plugins/integrations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109728" y="2944368"/>
            <a:ext cx="4407408" cy="1956816"/>
          </a:xfrm>
          <a:prstGeom prst="rect">
            <a:avLst/>
          </a:prstGeom>
          <a:solidFill>
            <a:srgbClr val="080F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728" y="2944368"/>
            <a:ext cx="54864" cy="195681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" y="300837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9456" y="32735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EU AI Act compliance → European enterprises NEED sovereignty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19456" y="35158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Open-source pipeline builds community &amp; reduces sales cycle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219456" y="37581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Reasoning model variant (Magistral) expected to close GPQA gap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219456" y="40005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Edge &amp; on-device deployment (Ministral 3B/8B) — unique tier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219456" y="42428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Devstral 2 for coding agents — targeting Claude's SWE-bench crown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19456" y="44851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Price: 30x cheaper than GPT-5.2 — compelling ROI for scale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626864" y="2944368"/>
            <a:ext cx="4407408" cy="1956816"/>
          </a:xfrm>
          <a:prstGeom prst="rect">
            <a:avLst/>
          </a:prstGeom>
          <a:solidFill>
            <a:srgbClr val="1C1509"/>
          </a:solidFill>
          <a:ln w="12700">
            <a:solidFill>
              <a:srgbClr val="FF7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2944368"/>
            <a:ext cx="54864" cy="1956816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300837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TAKEAWAY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36592" y="32735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Best open-weight model for coding at commercial scale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736592" y="35158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Only frontier model fully deployable on-premise (Apache 2.0)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736592" y="37581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Primary target: EU enterprises needing data sovereignty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736592" y="40005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Secondary target: cost-sensitive API deployments (30x cheaper)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736592" y="42428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Gap to close: scientific reasoning (GPQA) for research verticals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736592" y="44851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Next 6 months: Magistral reasoning + Devstral 2 will reshape competitive position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 (OpenAI)  —  Model Deep Dive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| Context: 128K | February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031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043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7043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3055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3055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067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031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728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7043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7043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05740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3055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3055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01752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9067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9067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1491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40480" y="841248"/>
            <a:ext cx="5166360" cy="400507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91440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66360" y="914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11887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KEY STRENGTHS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0" y="1417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#1 GPQA Diamond (92.4%)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2336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#1 AIME 2025 (100%)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ARC-AGI-2: 52.9% — massive leap in abstract reasoning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3360" y="2157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FrontierMath: 40.3% Tier 1-3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23360" y="24048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general-purpose frontier model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77640" y="27889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WEAKNESSES / RISKS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23360" y="3017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Proprietary / no open weights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23360" y="3264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cost (~$15/$60 per 1M tokens)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23360" y="35112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be self-hosted or fine-tuned freely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0" y="4251960"/>
            <a:ext cx="5166360" cy="5943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7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4251960"/>
            <a:ext cx="45720" cy="59436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8" name="Text 46"/>
          <p:cNvSpPr/>
          <p:nvPr/>
        </p:nvSpPr>
        <p:spPr>
          <a:xfrm>
            <a:off x="3931920" y="42885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PERSPECTIVE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931920" y="4471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commercial competitor. Mistral Large 3 offers comparable coding performance at Apache 2.0 licensing — a key differentiator for EU enterprises.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37160" y="1965960"/>
            <a:ext cx="3474720" cy="2560320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Radar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82880" y="2313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60120" y="236829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4" name="Shape 52"/>
          <p:cNvSpPr/>
          <p:nvPr/>
        </p:nvSpPr>
        <p:spPr>
          <a:xfrm>
            <a:off x="960120" y="2368296"/>
            <a:ext cx="2246681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5" name="Text 53"/>
          <p:cNvSpPr/>
          <p:nvPr/>
        </p:nvSpPr>
        <p:spPr>
          <a:xfrm>
            <a:off x="3243377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82880" y="2660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960120" y="2715768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8" name="Shape 56"/>
          <p:cNvSpPr/>
          <p:nvPr/>
        </p:nvSpPr>
        <p:spPr>
          <a:xfrm>
            <a:off x="960120" y="2715768"/>
            <a:ext cx="2281245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9" name="Text 57"/>
          <p:cNvSpPr/>
          <p:nvPr/>
        </p:nvSpPr>
        <p:spPr>
          <a:xfrm>
            <a:off x="3277941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82880" y="30083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60120" y="3063240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2" name="Shape 60"/>
          <p:cNvSpPr/>
          <p:nvPr/>
        </p:nvSpPr>
        <p:spPr>
          <a:xfrm>
            <a:off x="960120" y="3063240"/>
            <a:ext cx="2370125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3" name="Text 61"/>
          <p:cNvSpPr/>
          <p:nvPr/>
        </p:nvSpPr>
        <p:spPr>
          <a:xfrm>
            <a:off x="3366821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82880" y="33558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60120" y="3410712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6" name="Shape 64"/>
          <p:cNvSpPr/>
          <p:nvPr/>
        </p:nvSpPr>
        <p:spPr>
          <a:xfrm>
            <a:off x="960120" y="3410712"/>
            <a:ext cx="1975104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7" name="Text 65"/>
          <p:cNvSpPr/>
          <p:nvPr/>
        </p:nvSpPr>
        <p:spPr>
          <a:xfrm>
            <a:off x="2971800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82880" y="37033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60120" y="3758184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0" name="Shape 68"/>
          <p:cNvSpPr/>
          <p:nvPr/>
        </p:nvSpPr>
        <p:spPr>
          <a:xfrm>
            <a:off x="960120" y="3758184"/>
            <a:ext cx="2444191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1" name="Text 69"/>
          <p:cNvSpPr/>
          <p:nvPr/>
        </p:nvSpPr>
        <p:spPr>
          <a:xfrm>
            <a:off x="3440887" y="3703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82880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4" name="Shape 72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5" name="Text 73"/>
          <p:cNvSpPr/>
          <p:nvPr/>
        </p:nvSpPr>
        <p:spPr>
          <a:xfrm>
            <a:off x="3465576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 (Anthropic)  —  Model Deep Dive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| Context: 200K | February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031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043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7043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3055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3055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067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031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728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7043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7043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05740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3055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3055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01752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9067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9067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40480" y="841248"/>
            <a:ext cx="5166360" cy="400507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91440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66360" y="914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11887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KEY STRENGTHS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0" y="1417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#1 SWE-bench Verified (80.9%) — agentic coding leader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2336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200K context window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Best-in-class for tool use &amp; long-horizon agents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3360" y="2157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HELM Safety leader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77640" y="25420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WEAKNESSES / RISKS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23360" y="2770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Proprietary, no open weights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23360" y="3017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pricing vs open alternatives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23360" y="3264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GPQA lags GPT-5.2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40480" y="4251960"/>
            <a:ext cx="5166360" cy="5943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7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4251960"/>
            <a:ext cx="45720" cy="59436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7" name="Text 45"/>
          <p:cNvSpPr/>
          <p:nvPr/>
        </p:nvSpPr>
        <p:spPr>
          <a:xfrm>
            <a:off x="3931920" y="42885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PERSPECTIVE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931920" y="4471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dominates agentic coding. Mistral's Devstral 2 (open-weight) is the direct response — targeting the same coding-agent use case at a fraction of the cost.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37160" y="1965960"/>
            <a:ext cx="3474720" cy="2560320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Radar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82880" y="2313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60120" y="236829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3" name="Shape 51"/>
          <p:cNvSpPr/>
          <p:nvPr/>
        </p:nvSpPr>
        <p:spPr>
          <a:xfrm>
            <a:off x="960120" y="2368296"/>
            <a:ext cx="2221992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4" name="Text 52"/>
          <p:cNvSpPr/>
          <p:nvPr/>
        </p:nvSpPr>
        <p:spPr>
          <a:xfrm>
            <a:off x="3218688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82880" y="2660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60120" y="2715768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7" name="Shape 55"/>
          <p:cNvSpPr/>
          <p:nvPr/>
        </p:nvSpPr>
        <p:spPr>
          <a:xfrm>
            <a:off x="960120" y="2715768"/>
            <a:ext cx="2147926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8" name="Text 56"/>
          <p:cNvSpPr/>
          <p:nvPr/>
        </p:nvSpPr>
        <p:spPr>
          <a:xfrm>
            <a:off x="3144622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82880" y="30083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60120" y="3063240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1" name="Shape 59"/>
          <p:cNvSpPr/>
          <p:nvPr/>
        </p:nvSpPr>
        <p:spPr>
          <a:xfrm>
            <a:off x="960120" y="3063240"/>
            <a:ext cx="2320747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3317443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82880" y="33558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60120" y="3410712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5" name="Shape 63"/>
          <p:cNvSpPr/>
          <p:nvPr/>
        </p:nvSpPr>
        <p:spPr>
          <a:xfrm>
            <a:off x="960120" y="3410712"/>
            <a:ext cx="1997324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6" name="Text 64"/>
          <p:cNvSpPr/>
          <p:nvPr/>
        </p:nvSpPr>
        <p:spPr>
          <a:xfrm>
            <a:off x="2994020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" y="37033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60120" y="3758184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9" name="Shape 67"/>
          <p:cNvSpPr/>
          <p:nvPr/>
        </p:nvSpPr>
        <p:spPr>
          <a:xfrm>
            <a:off x="960120" y="3758184"/>
            <a:ext cx="2407158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0" name="Text 68"/>
          <p:cNvSpPr/>
          <p:nvPr/>
        </p:nvSpPr>
        <p:spPr>
          <a:xfrm>
            <a:off x="3403854" y="3703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82880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3" name="Shape 71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4" name="Text 72"/>
          <p:cNvSpPr/>
          <p:nvPr/>
        </p:nvSpPr>
        <p:spPr>
          <a:xfrm>
            <a:off x="3465576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 (Google)  —  Model Deep Dive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| Context: 1M | February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031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043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7043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3055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3055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067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031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728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7043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7043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05740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3055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3055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01752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9067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9067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1501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40480" y="841248"/>
            <a:ext cx="5166360" cy="400507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91440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66360" y="914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11887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KEY STRENGTHS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0" y="1417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#1 Chatbot Arena Elo (1501)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2336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#1 MMLU-Pro (90.1%)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#1 GPQA Diamond (91.9%)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3360" y="2157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1M context window — unmatched for long-doc tasks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23360" y="24048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multimodal + scientific reasoning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77640" y="27889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WEAKNESSES / RISKS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23360" y="3017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Proprietary, locked to Google Cloud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23360" y="3264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inference cost for large contexts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23360" y="35112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GDPR/data sovereignty concerns for EU clients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0" y="4251960"/>
            <a:ext cx="5166360" cy="5943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7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4251960"/>
            <a:ext cx="45720" cy="59436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8" name="Text 46"/>
          <p:cNvSpPr/>
          <p:nvPr/>
        </p:nvSpPr>
        <p:spPr>
          <a:xfrm>
            <a:off x="3931920" y="42885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PERSPECTIVE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931920" y="4471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leads on multimodal &amp; scientific reasoning. Mistral's European-sovereign positioning is a direct counter-play for EU enterprise &amp; public sector clients.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37160" y="1965960"/>
            <a:ext cx="3474720" cy="2560320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Radar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82880" y="2313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60120" y="236829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4" name="Shape 52"/>
          <p:cNvSpPr/>
          <p:nvPr/>
        </p:nvSpPr>
        <p:spPr>
          <a:xfrm>
            <a:off x="960120" y="2368296"/>
            <a:ext cx="2271370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5" name="Text 53"/>
          <p:cNvSpPr/>
          <p:nvPr/>
        </p:nvSpPr>
        <p:spPr>
          <a:xfrm>
            <a:off x="3268066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82880" y="2660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960120" y="2715768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8" name="Shape 56"/>
          <p:cNvSpPr/>
          <p:nvPr/>
        </p:nvSpPr>
        <p:spPr>
          <a:xfrm>
            <a:off x="960120" y="2715768"/>
            <a:ext cx="2268901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9" name="Text 57"/>
          <p:cNvSpPr/>
          <p:nvPr/>
        </p:nvSpPr>
        <p:spPr>
          <a:xfrm>
            <a:off x="3265597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82880" y="30083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60120" y="3063240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2" name="Shape 60"/>
          <p:cNvSpPr/>
          <p:nvPr/>
        </p:nvSpPr>
        <p:spPr>
          <a:xfrm>
            <a:off x="960120" y="3063240"/>
            <a:ext cx="2345436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3" name="Text 61"/>
          <p:cNvSpPr/>
          <p:nvPr/>
        </p:nvSpPr>
        <p:spPr>
          <a:xfrm>
            <a:off x="3342132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82880" y="33558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60120" y="3410712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6" name="Shape 64"/>
          <p:cNvSpPr/>
          <p:nvPr/>
        </p:nvSpPr>
        <p:spPr>
          <a:xfrm>
            <a:off x="960120" y="3410712"/>
            <a:ext cx="1901038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7" name="Text 65"/>
          <p:cNvSpPr/>
          <p:nvPr/>
        </p:nvSpPr>
        <p:spPr>
          <a:xfrm>
            <a:off x="2897734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82880" y="37033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60120" y="3758184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0" name="Shape 68"/>
          <p:cNvSpPr/>
          <p:nvPr/>
        </p:nvSpPr>
        <p:spPr>
          <a:xfrm>
            <a:off x="960120" y="3758184"/>
            <a:ext cx="2431847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1" name="Text 69"/>
          <p:cNvSpPr/>
          <p:nvPr/>
        </p:nvSpPr>
        <p:spPr>
          <a:xfrm>
            <a:off x="3428543" y="3703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82880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4" name="Shape 72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5" name="Text 73"/>
          <p:cNvSpPr/>
          <p:nvPr/>
        </p:nvSpPr>
        <p:spPr>
          <a:xfrm>
            <a:off x="3465576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 (xAI)  —  Model Deep Dive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| Context: 128K | February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031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043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7043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3055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3055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067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031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728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7043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7043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05740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3055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3055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01752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9067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9067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1483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40480" y="841248"/>
            <a:ext cx="5166360" cy="400507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91440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66360" y="914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11887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KEY STRENGTHS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0" y="1417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GPQA (87.5%) &amp; Chatbot Arena (1483)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2336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X/Twitter data access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Competitive pricing model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3360" y="2157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reasoning performance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77640" y="25420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WEAKNESSES / RISKS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23360" y="2770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Proprietary / X ecosystem lock-in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23360" y="3017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enterprise governance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23360" y="3264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Less safety-focused than Claude/Gemini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40480" y="4251960"/>
            <a:ext cx="5166360" cy="5943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7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4251960"/>
            <a:ext cx="45720" cy="59436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7" name="Text 45"/>
          <p:cNvSpPr/>
          <p:nvPr/>
        </p:nvSpPr>
        <p:spPr>
          <a:xfrm>
            <a:off x="3931920" y="42885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PERSPECTIVE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931920" y="4471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Grok's real-time data edge is hard to match. Mistral focuses on enterprise reliability, EU compliance, and open-source credibility where Grok lacks.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37160" y="1965960"/>
            <a:ext cx="3474720" cy="2560320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Radar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82880" y="2313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60120" y="236829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3" name="Shape 51"/>
          <p:cNvSpPr/>
          <p:nvPr/>
        </p:nvSpPr>
        <p:spPr>
          <a:xfrm>
            <a:off x="960120" y="2368296"/>
            <a:ext cx="2234336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4" name="Text 52"/>
          <p:cNvSpPr/>
          <p:nvPr/>
        </p:nvSpPr>
        <p:spPr>
          <a:xfrm>
            <a:off x="3231032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82880" y="2660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60120" y="2715768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7" name="Shape 55"/>
          <p:cNvSpPr/>
          <p:nvPr/>
        </p:nvSpPr>
        <p:spPr>
          <a:xfrm>
            <a:off x="960120" y="2715768"/>
            <a:ext cx="2160270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8" name="Text 56"/>
          <p:cNvSpPr/>
          <p:nvPr/>
        </p:nvSpPr>
        <p:spPr>
          <a:xfrm>
            <a:off x="3156966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82880" y="30083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60120" y="3063240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1" name="Shape 59"/>
          <p:cNvSpPr/>
          <p:nvPr/>
        </p:nvSpPr>
        <p:spPr>
          <a:xfrm>
            <a:off x="960120" y="3063240"/>
            <a:ext cx="2296058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2" name="Text 60"/>
          <p:cNvSpPr/>
          <p:nvPr/>
        </p:nvSpPr>
        <p:spPr>
          <a:xfrm>
            <a:off x="3292754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93.0%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82880" y="33558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60120" y="3410712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5" name="Shape 63"/>
          <p:cNvSpPr/>
          <p:nvPr/>
        </p:nvSpPr>
        <p:spPr>
          <a:xfrm>
            <a:off x="960120" y="3410712"/>
            <a:ext cx="1826971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6" name="Text 64"/>
          <p:cNvSpPr/>
          <p:nvPr/>
        </p:nvSpPr>
        <p:spPr>
          <a:xfrm>
            <a:off x="2823667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74.0%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" y="37033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60120" y="3758184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9" name="Shape 67"/>
          <p:cNvSpPr/>
          <p:nvPr/>
        </p:nvSpPr>
        <p:spPr>
          <a:xfrm>
            <a:off x="960120" y="3758184"/>
            <a:ext cx="2394814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0" name="Text 68"/>
          <p:cNvSpPr/>
          <p:nvPr/>
        </p:nvSpPr>
        <p:spPr>
          <a:xfrm>
            <a:off x="3391510" y="3703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82880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3" name="Shape 71"/>
          <p:cNvSpPr/>
          <p:nvPr/>
        </p:nvSpPr>
        <p:spPr>
          <a:xfrm>
            <a:off x="960120" y="4105656"/>
            <a:ext cx="2419502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4" name="Text 72"/>
          <p:cNvSpPr/>
          <p:nvPr/>
        </p:nvSpPr>
        <p:spPr>
          <a:xfrm>
            <a:off x="3416198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 (Meta)  —  Model Deep Dive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| Context: 1M | February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031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043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7043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3055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3055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067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031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728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7043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7043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05740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3055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3055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01752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9067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9067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40480" y="841248"/>
            <a:ext cx="5166360" cy="400507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91440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66360" y="914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11887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KEY STRENGTHS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0" y="1417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Open-weight (custom Meta license)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2336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1M context window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MMLU, GPQA for open model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3360" y="2157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Backed by huge Meta infrastructure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77640" y="25420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WEAKNESSES / RISKS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23360" y="2770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700M+ MAU restriction in license (NOT Apache 2.0)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23360" y="3017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Attribution required ('Built with Llama')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23360" y="3264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Weaker on GPQA vs Mistral Large 3 in some evals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40480" y="4251960"/>
            <a:ext cx="5166360" cy="5943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7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4251960"/>
            <a:ext cx="45720" cy="59436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7" name="Text 45"/>
          <p:cNvSpPr/>
          <p:nvPr/>
        </p:nvSpPr>
        <p:spPr>
          <a:xfrm>
            <a:off x="3931920" y="42885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PERSPECTIVE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931920" y="4471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Mistral's key advantage vs Llama: Apache 2.0 license on Large 3 — no 700M user restrictions, no attribution requirements. Better for commercial products.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37160" y="1965960"/>
            <a:ext cx="3474720" cy="2560320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Radar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82880" y="2313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60120" y="236829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3" name="Shape 51"/>
          <p:cNvSpPr/>
          <p:nvPr/>
        </p:nvSpPr>
        <p:spPr>
          <a:xfrm>
            <a:off x="960120" y="2368296"/>
            <a:ext cx="2110892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4" name="Text 52"/>
          <p:cNvSpPr/>
          <p:nvPr/>
        </p:nvSpPr>
        <p:spPr>
          <a:xfrm>
            <a:off x="3107588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82880" y="2660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60120" y="2715768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7" name="Shape 55"/>
          <p:cNvSpPr/>
          <p:nvPr/>
        </p:nvSpPr>
        <p:spPr>
          <a:xfrm>
            <a:off x="960120" y="2715768"/>
            <a:ext cx="1975104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8" name="Text 56"/>
          <p:cNvSpPr/>
          <p:nvPr/>
        </p:nvSpPr>
        <p:spPr>
          <a:xfrm>
            <a:off x="2971800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82880" y="30083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60120" y="3063240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1" name="Shape 59"/>
          <p:cNvSpPr/>
          <p:nvPr/>
        </p:nvSpPr>
        <p:spPr>
          <a:xfrm>
            <a:off x="960120" y="3063240"/>
            <a:ext cx="2133112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62" name="Text 60"/>
          <p:cNvSpPr/>
          <p:nvPr/>
        </p:nvSpPr>
        <p:spPr>
          <a:xfrm>
            <a:off x="3129808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82880" y="33558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60120" y="3410712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5" name="Shape 63"/>
          <p:cNvSpPr/>
          <p:nvPr/>
        </p:nvSpPr>
        <p:spPr>
          <a:xfrm>
            <a:off x="960120" y="3410712"/>
            <a:ext cx="1728216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6" name="Text 64"/>
          <p:cNvSpPr/>
          <p:nvPr/>
        </p:nvSpPr>
        <p:spPr>
          <a:xfrm>
            <a:off x="2724912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" y="37033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60120" y="3758184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9" name="Shape 67"/>
          <p:cNvSpPr/>
          <p:nvPr/>
        </p:nvSpPr>
        <p:spPr>
          <a:xfrm>
            <a:off x="960120" y="3758184"/>
            <a:ext cx="2345436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0" name="Text 68"/>
          <p:cNvSpPr/>
          <p:nvPr/>
        </p:nvSpPr>
        <p:spPr>
          <a:xfrm>
            <a:off x="3342132" y="3703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82880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3" name="Shape 71"/>
          <p:cNvSpPr/>
          <p:nvPr/>
        </p:nvSpPr>
        <p:spPr>
          <a:xfrm>
            <a:off x="960120" y="4105656"/>
            <a:ext cx="2197303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74" name="Text 72"/>
          <p:cNvSpPr/>
          <p:nvPr/>
        </p:nvSpPr>
        <p:spPr>
          <a:xfrm>
            <a:off x="3193999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(Mistral AI)  —  Model Deep Dive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| Context: 256K | February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" y="841248"/>
            <a:ext cx="45720" cy="530352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1031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0" y="841248"/>
            <a:ext cx="45720" cy="530352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7043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05740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57400" y="841248"/>
            <a:ext cx="45720" cy="530352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13055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3055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01752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17520" y="841248"/>
            <a:ext cx="45720" cy="530352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09067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9067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716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160" y="1463040"/>
            <a:ext cx="45720" cy="530352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031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9728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97280" y="1463040"/>
            <a:ext cx="45720" cy="530352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30" name="Text 28"/>
          <p:cNvSpPr/>
          <p:nvPr/>
        </p:nvSpPr>
        <p:spPr>
          <a:xfrm>
            <a:off x="117043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7043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05740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57400" y="1463040"/>
            <a:ext cx="45720" cy="530352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34" name="Text 32"/>
          <p:cNvSpPr/>
          <p:nvPr/>
        </p:nvSpPr>
        <p:spPr>
          <a:xfrm>
            <a:off x="213055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13055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01752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017520" y="1463040"/>
            <a:ext cx="45720" cy="530352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38" name="Text 36"/>
          <p:cNvSpPr/>
          <p:nvPr/>
        </p:nvSpPr>
        <p:spPr>
          <a:xfrm>
            <a:off x="309067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09067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1418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840480" y="841248"/>
            <a:ext cx="5166360" cy="400507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77640" y="91440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/>
        </p:spPr>
      </p:sp>
      <p:sp>
        <p:nvSpPr>
          <p:cNvPr id="42" name="Text 40"/>
          <p:cNvSpPr/>
          <p:nvPr/>
        </p:nvSpPr>
        <p:spPr>
          <a:xfrm>
            <a:off x="397764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166360" y="914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77640" y="11887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KEY STRENGTHS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0" y="1417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Apache 2.0 license — only frontier model with full commercial freedom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2336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675B MoE, ~40B active params: frontier quality at mid-model inference cost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02336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HumanEval 92% — top-3 open-weight coder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023360" y="2157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256K context window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023360" y="24048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#2 open-source non-reasoning model on LMArena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23360" y="26517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Multilingual leader (EU languages)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23360" y="28986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run on single 8-GPU node with NVFP4 quantization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023360" y="31455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$0.50/1M input tokens — 30x cheaper than GPT-5.2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977640" y="35295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WEAKNESSES / RISKS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023360" y="37581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GPQA Diamond 43.9% — significant gap vs frontier proprietary models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023360" y="40050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dedicated reasoning/thinking mode yet (forthcoming)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23360" y="42519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Less brand recognition vs OpenAI/Google in enterprise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40480" y="4251960"/>
            <a:ext cx="5166360" cy="594360"/>
          </a:xfrm>
          <a:prstGeom prst="rect">
            <a:avLst/>
          </a:prstGeom>
          <a:solidFill>
            <a:srgbClr val="2A1F0A"/>
          </a:solidFill>
          <a:ln w="12700">
            <a:solidFill>
              <a:srgbClr val="FF7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40480" y="4251960"/>
            <a:ext cx="45720" cy="59436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59" name="Text 57"/>
          <p:cNvSpPr/>
          <p:nvPr/>
        </p:nvSpPr>
        <p:spPr>
          <a:xfrm>
            <a:off x="3931920" y="42885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PERSPECTIVE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931920" y="4471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Mistral's own flagship. Unique value: frontier-class coding + Apache 2.0 + EU sovereignty + cost efficiency. GPQA gap is the main area to address.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37160" y="1965960"/>
            <a:ext cx="3474720" cy="2560320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Radar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82880" y="2313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60120" y="236829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5" name="Shape 63"/>
          <p:cNvSpPr/>
          <p:nvPr/>
        </p:nvSpPr>
        <p:spPr>
          <a:xfrm>
            <a:off x="960120" y="2368296"/>
            <a:ext cx="2110892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66" name="Text 64"/>
          <p:cNvSpPr/>
          <p:nvPr/>
        </p:nvSpPr>
        <p:spPr>
          <a:xfrm>
            <a:off x="3107588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" y="2660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60120" y="2715768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9" name="Shape 67"/>
          <p:cNvSpPr/>
          <p:nvPr/>
        </p:nvSpPr>
        <p:spPr>
          <a:xfrm>
            <a:off x="960120" y="2715768"/>
            <a:ext cx="1083838" cy="14630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0" name="Text 68"/>
          <p:cNvSpPr/>
          <p:nvPr/>
        </p:nvSpPr>
        <p:spPr>
          <a:xfrm>
            <a:off x="2080534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82880" y="30083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60120" y="3063240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3" name="Shape 71"/>
          <p:cNvSpPr/>
          <p:nvPr/>
        </p:nvSpPr>
        <p:spPr>
          <a:xfrm>
            <a:off x="960120" y="3063240"/>
            <a:ext cx="2271370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4" name="Text 72"/>
          <p:cNvSpPr/>
          <p:nvPr/>
        </p:nvSpPr>
        <p:spPr>
          <a:xfrm>
            <a:off x="3268066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82880" y="33558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60120" y="3410712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7" name="Shape 75"/>
          <p:cNvSpPr/>
          <p:nvPr/>
        </p:nvSpPr>
        <p:spPr>
          <a:xfrm>
            <a:off x="960120" y="3410712"/>
            <a:ext cx="1357884" cy="146304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8" name="Text 76"/>
          <p:cNvSpPr/>
          <p:nvPr/>
        </p:nvSpPr>
        <p:spPr>
          <a:xfrm>
            <a:off x="2354580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55.0%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182880" y="37033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960120" y="3758184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81" name="Shape 79"/>
          <p:cNvSpPr/>
          <p:nvPr/>
        </p:nvSpPr>
        <p:spPr>
          <a:xfrm>
            <a:off x="960120" y="3758184"/>
            <a:ext cx="2310872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2" name="Text 80"/>
          <p:cNvSpPr/>
          <p:nvPr/>
        </p:nvSpPr>
        <p:spPr>
          <a:xfrm>
            <a:off x="3307568" y="3703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82880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85" name="Shape 83"/>
          <p:cNvSpPr/>
          <p:nvPr/>
        </p:nvSpPr>
        <p:spPr>
          <a:xfrm>
            <a:off x="960120" y="4105656"/>
            <a:ext cx="1777594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6" name="Text 84"/>
          <p:cNvSpPr/>
          <p:nvPr/>
        </p:nvSpPr>
        <p:spPr>
          <a:xfrm>
            <a:off x="2774290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 (DeepSeek)  —  Model Deep Dive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| Context: 128K | February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031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7043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7043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3055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3055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017520" y="841248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90672" y="877824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104241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031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728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7043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7043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05740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3055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3055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017520" y="1463040"/>
            <a:ext cx="868680" cy="53035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90672" y="1499616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90672" y="16642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40480" y="841248"/>
            <a:ext cx="5166360" cy="4005072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914400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914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66360" y="914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(China)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11887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KEY STRENGTHS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0" y="1417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Extremely low cost (~$0.27/1M input)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2336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MMLU (90.8%) competing with proprietary models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0" y="19110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 license — fully open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23360" y="2157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MATH-500 97.3% — among the best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77640" y="25420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WEAKNESSES / RISKS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23360" y="2770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Chinese lab — data sovereignty &amp; geopolitical risk for EU/US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23360" y="30175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GDPR compliance unclear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23360" y="32644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Less ecosystem integration in Western cloud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40480" y="4251960"/>
            <a:ext cx="5166360" cy="5943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7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0" y="4251960"/>
            <a:ext cx="45720" cy="59436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7" name="Text 45"/>
          <p:cNvSpPr/>
          <p:nvPr/>
        </p:nvSpPr>
        <p:spPr>
          <a:xfrm>
            <a:off x="3931920" y="428853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PERSPECTIVE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931920" y="4471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is price competitor but faces EU regulatory headwinds. Mistral's European HQ and GDPR-native compliance make it the safe choice for EU-regulated industries.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37160" y="1965960"/>
            <a:ext cx="3474720" cy="2560320"/>
          </a:xfrm>
          <a:prstGeom prst="rect">
            <a:avLst/>
          </a:prstGeom>
          <a:solidFill>
            <a:srgbClr val="24273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Radar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82880" y="2313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60120" y="236829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3" name="Shape 51"/>
          <p:cNvSpPr/>
          <p:nvPr/>
        </p:nvSpPr>
        <p:spPr>
          <a:xfrm>
            <a:off x="960120" y="2368296"/>
            <a:ext cx="2241743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4" name="Text 52"/>
          <p:cNvSpPr/>
          <p:nvPr/>
        </p:nvSpPr>
        <p:spPr>
          <a:xfrm>
            <a:off x="3238439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82880" y="2660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60120" y="2715768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7" name="Shape 55"/>
          <p:cNvSpPr/>
          <p:nvPr/>
        </p:nvSpPr>
        <p:spPr>
          <a:xfrm>
            <a:off x="960120" y="2715768"/>
            <a:ext cx="1950415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8" name="Text 56"/>
          <p:cNvSpPr/>
          <p:nvPr/>
        </p:nvSpPr>
        <p:spPr>
          <a:xfrm>
            <a:off x="2947111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82880" y="30083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60120" y="3063240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1" name="Shape 59"/>
          <p:cNvSpPr/>
          <p:nvPr/>
        </p:nvSpPr>
        <p:spPr>
          <a:xfrm>
            <a:off x="960120" y="3063240"/>
            <a:ext cx="2246681" cy="146304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62" name="Text 60"/>
          <p:cNvSpPr/>
          <p:nvPr/>
        </p:nvSpPr>
        <p:spPr>
          <a:xfrm>
            <a:off x="3243377" y="3008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82880" y="33558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60120" y="3410712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5" name="Shape 63"/>
          <p:cNvSpPr/>
          <p:nvPr/>
        </p:nvSpPr>
        <p:spPr>
          <a:xfrm>
            <a:off x="960120" y="3410712"/>
            <a:ext cx="1777594" cy="146304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6" name="Text 64"/>
          <p:cNvSpPr/>
          <p:nvPr/>
        </p:nvSpPr>
        <p:spPr>
          <a:xfrm>
            <a:off x="2774290" y="3355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" y="37033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60120" y="3758184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69" name="Shape 67"/>
          <p:cNvSpPr/>
          <p:nvPr/>
        </p:nvSpPr>
        <p:spPr>
          <a:xfrm>
            <a:off x="960120" y="3758184"/>
            <a:ext cx="2402220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0" name="Text 68"/>
          <p:cNvSpPr/>
          <p:nvPr/>
        </p:nvSpPr>
        <p:spPr>
          <a:xfrm>
            <a:off x="3398916" y="3703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82880" y="40507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60120" y="4105656"/>
            <a:ext cx="2468880" cy="146304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73" name="Shape 71"/>
          <p:cNvSpPr/>
          <p:nvPr/>
        </p:nvSpPr>
        <p:spPr>
          <a:xfrm>
            <a:off x="960120" y="4105656"/>
            <a:ext cx="2345436" cy="14630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4" name="Text 72"/>
          <p:cNvSpPr/>
          <p:nvPr/>
        </p:nvSpPr>
        <p:spPr>
          <a:xfrm>
            <a:off x="3342132" y="4050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MMLU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(57 subjects), % correct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4626864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4576572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0" name="Text 18"/>
          <p:cNvSpPr/>
          <p:nvPr/>
        </p:nvSpPr>
        <p:spPr>
          <a:xfrm>
            <a:off x="6423660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4566514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7" name="Text 25"/>
          <p:cNvSpPr/>
          <p:nvPr/>
        </p:nvSpPr>
        <p:spPr>
          <a:xfrm>
            <a:off x="6413602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4551426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4" name="Text 32"/>
          <p:cNvSpPr/>
          <p:nvPr/>
        </p:nvSpPr>
        <p:spPr>
          <a:xfrm>
            <a:off x="6398514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3054096"/>
            <a:ext cx="4526280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85432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783080" y="3566160"/>
            <a:ext cx="4299966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8" name="Text 46"/>
          <p:cNvSpPr/>
          <p:nvPr/>
        </p:nvSpPr>
        <p:spPr>
          <a:xfrm>
            <a:off x="6147054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3959352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4299966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56" name="Text 54"/>
          <p:cNvSpPr/>
          <p:nvPr/>
        </p:nvSpPr>
        <p:spPr>
          <a:xfrm>
            <a:off x="6147054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MMLU: 85.5%  |  Rank 7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is saturating — top models cluster above 88%. Mistral's 85.5% is competitive for open-weight. Cost/performance ratio is Mistral's main value lever here.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MMLU-Pro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Graduate-level knowledge, 10-choice, % correct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4531309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397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4501134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0" name="Text 18"/>
          <p:cNvSpPr/>
          <p:nvPr/>
        </p:nvSpPr>
        <p:spPr>
          <a:xfrm>
            <a:off x="6348222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4501134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7" name="Text 25"/>
          <p:cNvSpPr/>
          <p:nvPr/>
        </p:nvSpPr>
        <p:spPr>
          <a:xfrm>
            <a:off x="6348222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4375404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4" name="Text 32"/>
          <p:cNvSpPr/>
          <p:nvPr/>
        </p:nvSpPr>
        <p:spPr>
          <a:xfrm>
            <a:off x="6222492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3054096"/>
            <a:ext cx="4224528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1" name="Text 39"/>
          <p:cNvSpPr/>
          <p:nvPr/>
        </p:nvSpPr>
        <p:spPr>
          <a:xfrm>
            <a:off x="6071616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85432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783080" y="3566160"/>
            <a:ext cx="3973068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8" name="Text 46"/>
          <p:cNvSpPr/>
          <p:nvPr/>
        </p:nvSpPr>
        <p:spPr>
          <a:xfrm>
            <a:off x="5820156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3959352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3676345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56" name="Text 54"/>
          <p:cNvSpPr/>
          <p:nvPr/>
        </p:nvSpPr>
        <p:spPr>
          <a:xfrm>
            <a:off x="5523433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MMLU-Pro: 73.1%  |  Rank 7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MMLU-Pro (10 choices, grad-level) is more discriminating. Mistral's 73.1% lags frontier proprietary models, but leads at its price point. Upcoming reasoning variant expected to close gap.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GPQA Diamond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PhD-level science Q&amp;A (biology/chem/physics), % correct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4646981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4069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4621835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0" name="Text 18"/>
          <p:cNvSpPr/>
          <p:nvPr/>
        </p:nvSpPr>
        <p:spPr>
          <a:xfrm>
            <a:off x="6468923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4400550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7" name="Text 25"/>
          <p:cNvSpPr/>
          <p:nvPr/>
        </p:nvSpPr>
        <p:spPr>
          <a:xfrm>
            <a:off x="6247638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4375404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4" name="Text 32"/>
          <p:cNvSpPr/>
          <p:nvPr/>
        </p:nvSpPr>
        <p:spPr>
          <a:xfrm>
            <a:off x="6222492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3054096"/>
            <a:ext cx="4023360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1" name="Text 39"/>
          <p:cNvSpPr/>
          <p:nvPr/>
        </p:nvSpPr>
        <p:spPr>
          <a:xfrm>
            <a:off x="5870448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85432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783080" y="3566160"/>
            <a:ext cx="3973068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8" name="Text 46"/>
          <p:cNvSpPr/>
          <p:nvPr/>
        </p:nvSpPr>
        <p:spPr>
          <a:xfrm>
            <a:off x="5820156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3959352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2207819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56" name="Text 54"/>
          <p:cNvSpPr/>
          <p:nvPr/>
        </p:nvSpPr>
        <p:spPr>
          <a:xfrm>
            <a:off x="4054907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GPQA Diamond: 43.9%  |  Rank 7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GPQA Diamond is Mistral Large 3's clearest weakness at 43.9%. This is the main area for improvement — the planned reasoning model variant is critical to address this gap for scientific/research use cases.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HumanEval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generation, pass@1 %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4828032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47777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4828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4727448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574536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4677156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6524244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0" y="2935224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1" name="Shape 39"/>
          <p:cNvSpPr/>
          <p:nvPr/>
        </p:nvSpPr>
        <p:spPr>
          <a:xfrm>
            <a:off x="1783080" y="3054096"/>
            <a:ext cx="4626864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473952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8543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8" name="Shape 46"/>
          <p:cNvSpPr/>
          <p:nvPr/>
        </p:nvSpPr>
        <p:spPr>
          <a:xfrm>
            <a:off x="1783080" y="3566160"/>
            <a:ext cx="4576572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9" name="Text 47"/>
          <p:cNvSpPr/>
          <p:nvPr/>
        </p:nvSpPr>
        <p:spPr>
          <a:xfrm>
            <a:off x="6423660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4345229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6" name="Text 54"/>
          <p:cNvSpPr/>
          <p:nvPr/>
        </p:nvSpPr>
        <p:spPr>
          <a:xfrm>
            <a:off x="6192317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86.4%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HumanEval: 92.0%  |  Rank 5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92.0% places Mistral Large 3 top-3 among all open-weight models. Strong value proposition for coding applications — especially combined with Apache 2.0 licensing.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SWE-bench Verified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GitHub bug fixing, % resolved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4068623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3" name="Text 11"/>
          <p:cNvSpPr/>
          <p:nvPr/>
        </p:nvSpPr>
        <p:spPr>
          <a:xfrm>
            <a:off x="5915711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4023360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3872484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7" name="Text 25"/>
          <p:cNvSpPr/>
          <p:nvPr/>
        </p:nvSpPr>
        <p:spPr>
          <a:xfrm>
            <a:off x="5719572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3721608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4" name="Text 32"/>
          <p:cNvSpPr/>
          <p:nvPr/>
        </p:nvSpPr>
        <p:spPr>
          <a:xfrm>
            <a:off x="5568696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3054096"/>
            <a:ext cx="3621024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1" name="Text 39"/>
          <p:cNvSpPr/>
          <p:nvPr/>
        </p:nvSpPr>
        <p:spPr>
          <a:xfrm>
            <a:off x="5468112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85432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783080" y="3566160"/>
            <a:ext cx="3520440" cy="201168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8" name="Text 46"/>
          <p:cNvSpPr/>
          <p:nvPr/>
        </p:nvSpPr>
        <p:spPr>
          <a:xfrm>
            <a:off x="5367528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3959352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2766060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56" name="Text 54"/>
          <p:cNvSpPr/>
          <p:nvPr/>
        </p:nvSpPr>
        <p:spPr>
          <a:xfrm>
            <a:off x="4613148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SWE-bench Verified: 55.0%  |  Rank 7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tests real-world bug fixing. Mistral's 55% is behind Claude/GPT leaders but the open-weight Devstral 2 model specifically targets this benchmark. Watch this space.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MATH-500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math problems, % correct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4978908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25996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4953762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800850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490347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750558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4893412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6740500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3054096"/>
            <a:ext cx="4878324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6725412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85432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783080" y="3566160"/>
            <a:ext cx="47777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6624828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3959352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4707331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56" name="Text 54"/>
          <p:cNvSpPr/>
          <p:nvPr/>
        </p:nvSpPr>
        <p:spPr>
          <a:xfrm>
            <a:off x="6554419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MATH-500: 93.6%  |  Rank 7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 at 93.6% is one of Mistral's strongest results — competitive with any model in the market. Excellent for math/finance/scientific computation applications.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AIME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High-school math olympiad, % correct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876288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4928616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6775704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3054096"/>
            <a:ext cx="4777740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6624828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85432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783080" y="3566160"/>
            <a:ext cx="4475988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8" name="Text 46"/>
          <p:cNvSpPr/>
          <p:nvPr/>
        </p:nvSpPr>
        <p:spPr>
          <a:xfrm>
            <a:off x="6323076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3959352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3621024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56" name="Text 54"/>
          <p:cNvSpPr/>
          <p:nvPr/>
        </p:nvSpPr>
        <p:spPr>
          <a:xfrm>
            <a:off x="5468112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AIME 2025: 72.0%  |  Rank 7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 at 72.0% — decent but well below frontier reasoning models. The forthcoming Magistral reasoning variant is expected to significantly improve AIME scores.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Chatbot Arena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preference Elo score (higher = better)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4966335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13423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4933248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780336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4906779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753867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4896853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6743941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0" y="2935224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37" name="Shape 35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1" name="Shape 39"/>
          <p:cNvSpPr/>
          <p:nvPr/>
        </p:nvSpPr>
        <p:spPr>
          <a:xfrm>
            <a:off x="1783080" y="3054096"/>
            <a:ext cx="4691714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2" name="Text 40"/>
          <p:cNvSpPr/>
          <p:nvPr/>
        </p:nvSpPr>
        <p:spPr>
          <a:xfrm>
            <a:off x="6538802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8543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8" name="Shape 46"/>
          <p:cNvSpPr/>
          <p:nvPr/>
        </p:nvSpPr>
        <p:spPr>
          <a:xfrm>
            <a:off x="1783080" y="3566160"/>
            <a:ext cx="4665245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9" name="Text 47"/>
          <p:cNvSpPr/>
          <p:nvPr/>
        </p:nvSpPr>
        <p:spPr>
          <a:xfrm>
            <a:off x="6512333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4499811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56" name="Text 54"/>
          <p:cNvSpPr/>
          <p:nvPr/>
        </p:nvSpPr>
        <p:spPr>
          <a:xfrm>
            <a:off x="6346899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Chatbot Arena: 1418  |  Rank 5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Arena Elo 1418 — #2 open-source non-reasoning model. Strong human preference signal. Useful for validating that Mistral delivers real-world quality, not just benchmark optimization.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IFEval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 accuracy, % | Mistral Large 3 highlighted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— LLM Benchmark Analysis | February 2026  | 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37160" y="95097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950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8961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100584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83080" y="1005840"/>
            <a:ext cx="4702302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549390" y="95097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969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" y="146304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14630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" y="14081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Pro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51790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3080" y="1517904"/>
            <a:ext cx="4677156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524244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8543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" y="1975104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" y="19751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" y="1920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83080" y="2029968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2029968"/>
            <a:ext cx="4626864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54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37160" y="2487168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487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" y="2432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4.1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83080" y="2542032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2542032"/>
            <a:ext cx="4576572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4" name="Text 32"/>
          <p:cNvSpPr/>
          <p:nvPr/>
        </p:nvSpPr>
        <p:spPr>
          <a:xfrm>
            <a:off x="6423660" y="24871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5432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37160" y="2999232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" y="29992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2944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83080" y="3054096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3054096"/>
            <a:ext cx="4475988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1" name="Text 39"/>
          <p:cNvSpPr/>
          <p:nvPr/>
        </p:nvSpPr>
        <p:spPr>
          <a:xfrm>
            <a:off x="6323076" y="29992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85432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37160" y="3511296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" y="35112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" y="34564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83080" y="3566160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47" name="Shape 45"/>
          <p:cNvSpPr/>
          <p:nvPr/>
        </p:nvSpPr>
        <p:spPr>
          <a:xfrm>
            <a:off x="1783080" y="3566160"/>
            <a:ext cx="4425696" cy="201168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48" name="Text 46"/>
          <p:cNvSpPr/>
          <p:nvPr/>
        </p:nvSpPr>
        <p:spPr>
          <a:xfrm>
            <a:off x="6272784" y="35112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3959352"/>
            <a:ext cx="9006840" cy="466344"/>
          </a:xfrm>
          <a:prstGeom prst="rect">
            <a:avLst/>
          </a:prstGeom>
          <a:solidFill>
            <a:srgbClr val="1C1509"/>
          </a:solidFill>
          <a:ln/>
        </p:spPr>
      </p:sp>
      <p:sp>
        <p:nvSpPr>
          <p:cNvPr id="51" name="Shape 49"/>
          <p:cNvSpPr/>
          <p:nvPr/>
        </p:nvSpPr>
        <p:spPr>
          <a:xfrm>
            <a:off x="137160" y="4023360"/>
            <a:ext cx="256032" cy="274320"/>
          </a:xfrm>
          <a:prstGeom prst="roundRect">
            <a:avLst>
              <a:gd name="adj" fmla="val 17857"/>
            </a:avLst>
          </a:prstGeom>
          <a:solidFill>
            <a:srgbClr val="242738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39684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783080" y="4078224"/>
            <a:ext cx="5029200" cy="201168"/>
          </a:xfrm>
          <a:prstGeom prst="rect">
            <a:avLst/>
          </a:prstGeom>
          <a:solidFill>
            <a:srgbClr val="2E324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4078224"/>
            <a:ext cx="4425696" cy="2011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56" name="Text 54"/>
          <p:cNvSpPr/>
          <p:nvPr/>
        </p:nvSpPr>
        <p:spPr>
          <a:xfrm>
            <a:off x="6272784" y="4023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85432" y="40416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0" y="4297680"/>
            <a:ext cx="9144000" cy="658368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59" name="Shape 57"/>
          <p:cNvSpPr/>
          <p:nvPr/>
        </p:nvSpPr>
        <p:spPr>
          <a:xfrm>
            <a:off x="0" y="4297680"/>
            <a:ext cx="54864" cy="658368"/>
          </a:xfrm>
          <a:prstGeom prst="rect">
            <a:avLst/>
          </a:prstGeom>
          <a:solidFill>
            <a:srgbClr val="FF7000"/>
          </a:solidFill>
          <a:ln/>
        </p:spPr>
      </p:sp>
      <p:sp>
        <p:nvSpPr>
          <p:cNvPr id="60" name="Text 58"/>
          <p:cNvSpPr/>
          <p:nvPr/>
        </p:nvSpPr>
        <p:spPr>
          <a:xfrm>
            <a:off x="137160" y="433425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 3 on IFEval: 88.0%  |  Rank 7 of 7 models evaluated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37160" y="46268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IFEval (instruction following) at 88.0% is solid and shows Mistral is reliable for structured business tasks requiring precise output formatting.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Benchmark Analysis — Mistral Perspective Feb 2026</dc:title>
  <dc:subject>PptxGenJS Presentation</dc:subject>
  <dc:creator>Mistral AI Analysis</dc:creator>
  <cp:lastModifiedBy>Mistral AI Analysis</cp:lastModifiedBy>
  <cp:revision>1</cp:revision>
  <dcterms:created xsi:type="dcterms:W3CDTF">2026-02-25T11:24:46Z</dcterms:created>
  <dcterms:modified xsi:type="dcterms:W3CDTF">2026-02-25T11:24:46Z</dcterms:modified>
</cp:coreProperties>
</file>