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362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THE PROBLEM
"Hi, I'm Javier. Before I show you the solution, let me set the context in 30 seconds.
The customer runs a document processing workflow on a cloud hyperscaler. They're paying 75 cents per page, their own business team reports 85% accuracy, and they're fully locked into a competing model family.
That's the problem mistral-lens solves. Let me show you how."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[0:30–1:15] ARCHITECTURE
"mistral-lens is a three-step pipeline, all on Mistral models — no other dependencies.
Step one: OCR with mistral-ocr-latest. Raw text extraction from each PDF page.
Step two: Topic detection with mistral-large-latest. One to two sentences identifying the primary topic.
Step three: Q&amp;A with mistral-large-latest. Long-form answer grounded in the document.
For evaluation we use three metrics: WER and ROUGE-L for text quality, and an LLM-as-judge score where Mistral itself rates the answer quality from one to five.
Let me show you exactly this in the code now."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Q&amp;A REFERENCE — not shown in the video.
Keep this open in the background during the panel for quick reference on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incumbent API costs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$0.75/page, delivers 85% accuracy,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locks you in completely.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3072384"/>
            <a:ext cx="100584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2186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customer runs document processing on a competing hyperscaler.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what their workflow costs them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256032"/>
            <a:ext cx="2743200" cy="1389888"/>
          </a:xfrm>
          <a:prstGeom prst="rect">
            <a:avLst/>
          </a:prstGeom>
          <a:solidFill>
            <a:srgbClr val="1A3A2A"/>
          </a:solidFill>
          <a:ln w="9525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26480" y="256032"/>
            <a:ext cx="45720" cy="1389888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91072" y="3474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$0.75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291072" y="10058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4A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page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91072" y="1280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vendor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81051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1810512"/>
            <a:ext cx="45720" cy="1389888"/>
          </a:xfrm>
          <a:prstGeom prst="rect">
            <a:avLst/>
          </a:prstGeom>
          <a:solidFill>
            <a:srgbClr val="2C5F40"/>
          </a:solidFill>
          <a:ln w="12700">
            <a:solidFill>
              <a:srgbClr val="2C5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91072" y="1901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291072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91072" y="28346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Self-reported by customer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3364992"/>
            <a:ext cx="2743200" cy="1389888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3364992"/>
            <a:ext cx="45720" cy="1389888"/>
          </a:xfrm>
          <a:prstGeom prst="rect">
            <a:avLst/>
          </a:prstGeom>
          <a:solidFill>
            <a:srgbClr val="888880"/>
          </a:solidFill>
          <a:ln w="12700">
            <a:solidFill>
              <a:srgbClr val="888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91072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91072" y="41148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lock-in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91072" y="4389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Competing hyperscaler 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AE6DC"/>
          </a:solidFill>
          <a:ln w="635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6519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mistral-lens  ×  Partner Solution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mistral-lens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models. One pipeline. Built entirely on Mistral.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91440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2423160" cy="2651760"/>
          </a:xfrm>
          <a:prstGeom prst="rect">
            <a:avLst/>
          </a:prstGeom>
          <a:solidFill>
            <a:srgbClr val="1A3A2A"/>
          </a:solidFill>
          <a:ln w="9525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2020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15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235000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76072" y="3008376"/>
            <a:ext cx="2093976" cy="22860"/>
          </a:xfrm>
          <a:prstGeom prst="rect">
            <a:avLst/>
          </a:prstGeom>
          <a:solidFill>
            <a:srgbClr val="3A6A4A"/>
          </a:solidFill>
          <a:ln w="12700">
            <a:solidFill>
              <a:srgbClr val="3A6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309981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A8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mistral-ocr-latest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" y="33832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Extracts raw text from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pages with high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44368" y="31455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64992" y="1874520"/>
            <a:ext cx="24231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9584" y="2020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9584" y="235000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529584" y="3008376"/>
            <a:ext cx="2093976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9584" y="309981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mistral-large-latest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9584" y="33832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Identifies the primary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in 1–2 sentences.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step.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31455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B8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18504" y="1874520"/>
            <a:ext cx="2423160" cy="2651760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83096" y="2020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83096" y="2350008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6483096" y="3008376"/>
            <a:ext cx="2093976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83096" y="3099816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mistral-large-latest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83096" y="33832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Generates a long-form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grounded in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document.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590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  </a:t>
            </a: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accuracy vs ground truth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9272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ROUGE-L  </a:t>
            </a: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overlap score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27064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3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Judge 1–5  </a:t>
            </a:r>
            <a:r>
              <a:rPr lang="en-US" sz="95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quality, correctness &amp; grounding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AE6DC"/>
          </a:solidFill>
          <a:ln w="635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496519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mistral-lens  ×  Partner Solution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Q&amp;A REFERENCE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numbers to have ready.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this slide open during the panel. Do not use it in the video.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36192"/>
            <a:ext cx="82296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4133088" cy="1426464"/>
          </a:xfrm>
          <a:prstGeom prst="rect">
            <a:avLst/>
          </a:prstGeom>
          <a:solidFill>
            <a:srgbClr val="1A3A2A"/>
          </a:solidFill>
          <a:ln w="9525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45720" cy="142646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8288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A8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comparison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2121408"/>
            <a:ext cx="3858768" cy="22860"/>
          </a:xfrm>
          <a:prstGeom prst="rect">
            <a:avLst/>
          </a:prstGeom>
          <a:solidFill>
            <a:srgbClr val="3A6A4A"/>
          </a:solidFill>
          <a:ln w="12700">
            <a:solidFill>
              <a:srgbClr val="3A6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2212848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Incumbent: $0.75 / page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 OCR: ~$0.001 / page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5F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Saving: ~99% on processing cost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18888" y="1719072"/>
            <a:ext cx="413308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18888" y="1719072"/>
            <a:ext cx="45720" cy="1426464"/>
          </a:xfrm>
          <a:prstGeom prst="rect">
            <a:avLst/>
          </a:prstGeom>
          <a:solidFill>
            <a:srgbClr val="2C5F40"/>
          </a:solidFill>
          <a:ln w="12700">
            <a:solidFill>
              <a:srgbClr val="2C5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baseline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2121408"/>
            <a:ext cx="3858768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2212848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Incumbent: 85% (customer-reported)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Mistral: your real WER/ROUGE from dev_eval.csv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LLM-judge: 1–5 scale with rationale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4133088" cy="1426464"/>
          </a:xfrm>
          <a:prstGeom prst="rect">
            <a:avLst/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291840"/>
            <a:ext cx="45720" cy="1426464"/>
          </a:xfrm>
          <a:prstGeom prst="rect">
            <a:avLst/>
          </a:prstGeom>
          <a:solidFill>
            <a:srgbClr val="2C5F40"/>
          </a:solidFill>
          <a:ln w="12700">
            <a:solidFill>
              <a:srgbClr val="2C5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34015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2C5F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answer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" y="3694176"/>
            <a:ext cx="3858768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3785616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 pages/month: ~$100 vs $75,000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 API — horizontal scaling trivial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 option via open weights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18888" y="3291840"/>
            <a:ext cx="413308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18888" y="3291840"/>
            <a:ext cx="45720" cy="142646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34015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F15A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Mistral specifically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3694176"/>
            <a:ext cx="3858768" cy="22860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3785616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weight models — no vendor lock-in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sovereignty — runs on your infra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European company — GDPR-native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AE6DC"/>
          </a:solidFill>
          <a:ln w="635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3200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4965192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mistral-lens  ×  Partner Solution Architecture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Macintosh PowerPoint</Application>
  <PresentationFormat>On-screen Show (16:9)</PresentationFormat>
  <Paragraphs>70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mistral-lens — Partner Solution Architecture</dc:title>
  <dc:subject>PptxGenJS Presentation</dc:subject>
  <dc:creator>Javier Lombana</dc:creator>
  <cp:lastModifiedBy>Javier Lombana</cp:lastModifiedBy>
  <cp:revision>1</cp:revision>
  <dcterms:created xsi:type="dcterms:W3CDTF">2026-03-13T00:13:58Z</dcterms:created>
  <dcterms:modified xsi:type="dcterms:W3CDTF">2026-03-13T14:17:23Z</dcterms:modified>
</cp:coreProperties>
</file>